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D97B29"/>
            </a:solidFill>
          </c:spPr>
          <c:cat>
            <c:strRef>
              <c:f>Sheet1!$A$2:$A$6</c:f>
              <c:strCache>
                <c:ptCount val="5"/>
                <c:pt idx="0">
                  <c:v>Naive Bayes</c:v>
                </c:pt>
                <c:pt idx="1">
                  <c:v>Decision Tree</c:v>
                </c:pt>
                <c:pt idx="2">
                  <c:v>Linear SVM</c:v>
                </c:pt>
                <c:pt idx="3">
                  <c:v>Softmax</c:v>
                </c:pt>
                <c:pt idx="4">
                  <c:v>Two-layer 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55.22</c:v>
                </c:pt>
                <c:pt idx="1">
                  <c:v>89.12</c:v>
                </c:pt>
                <c:pt idx="2">
                  <c:v>95.34</c:v>
                </c:pt>
                <c:pt idx="3">
                  <c:v>71.39</c:v>
                </c:pt>
                <c:pt idx="4">
                  <c:v>98.02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Driver-wise split</c:v>
                </c:pt>
              </c:strCache>
            </c:strRef>
          </c:tx>
          <c:spPr>
            <a:solidFill>
              <a:srgbClr val="1B8A8F"/>
            </a:solidFill>
          </c:spPr>
          <c:cat>
            <c:strRef>
              <c:f>Sheet1!$A$2:$A$6</c:f>
              <c:strCache>
                <c:ptCount val="5"/>
                <c:pt idx="0">
                  <c:v>Naive Bayes</c:v>
                </c:pt>
                <c:pt idx="1">
                  <c:v>Decision Tree</c:v>
                </c:pt>
                <c:pt idx="2">
                  <c:v>Linear SVM</c:v>
                </c:pt>
                <c:pt idx="3">
                  <c:v>Softmax</c:v>
                </c:pt>
                <c:pt idx="4">
                  <c:v>Two-layer NN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32.61</c:v>
                </c:pt>
                <c:pt idx="1">
                  <c:v>29.66</c:v>
                </c:pt>
                <c:pt idx="2">
                  <c:v>45.39</c:v>
                </c:pt>
                <c:pt idx="3">
                  <c:v>41.93</c:v>
                </c:pt>
                <c:pt idx="4">
                  <c:v>51.55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64008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FDBEA"/>
                </a:solidFill>
                <a:latin typeface="Calibri"/>
              </a:rPr>
              <a:t>Classifying driver activity from dashboard images: classical ML vs a small 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UE24CS352A  |  Machine Learning  |  Mini-Project  |  Problem #24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Arya Devang (PES1UG24AM054) | Ananthakrishna (PES1UG24AM036)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https://github.com/Arya-677/ML_miniProject_sem5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555B66"/>
                </a:solidFill>
                <a:latin typeface="Calibri"/>
              </a:rPr>
              <a:t>▸  Task: given ONE in-cabin image, predict the driver's activity (10 classes).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555B66"/>
                </a:solidFill>
                <a:latin typeface="Calibri"/>
              </a:rPr>
              <a:t>▸  Why it matters: distracted driving contributes to severe crashes, and different activities carry different risk.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555B66"/>
                </a:solidFill>
                <a:latin typeface="Calibri"/>
              </a:rPr>
              <a:t>▸  Our question: how well do simple models on raw pixels work, and does the accuracy hold for drivers the model has never seen?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555B66"/>
                </a:solidFill>
                <a:latin typeface="Calibri"/>
              </a:rPr>
              <a:t>▸  Basis: re-implementation and extension of the CS229 report by Feng &amp; Yue (2019).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280160"/>
            <a:ext cx="4663440" cy="484632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37160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The 10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920240"/>
            <a:ext cx="42976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c0   Safe driving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c1   Texting - right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c2   Talking on phone - right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c3   Texting - left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c4   Talking on phone - left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c5   Operating the radio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c6   Drinking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c7   Reaching behind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c8   Hair and makeup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c9   Talking to passenger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Dataset: State Farm Distracted Driver Detection (Kaggle)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651760" cy="15544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B8A8F"/>
                </a:solidFill>
                <a:latin typeface="Calibri"/>
              </a:rPr>
              <a:t>22,424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B66"/>
                </a:solidFill>
                <a:latin typeface="Calibri"/>
              </a:rPr>
              <a:t>labelled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651760" cy="15544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716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B8A8F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945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B66"/>
                </a:solidFill>
                <a:latin typeface="Calibri"/>
              </a:rPr>
              <a:t>classes (1 safe + 9 distractions)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651760" cy="15544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B8A8F"/>
                </a:solidFill>
                <a:latin typeface="Calibri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1945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B66"/>
                </a:solidFill>
                <a:latin typeface="Calibri"/>
              </a:rPr>
              <a:t>different drivers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280160"/>
            <a:ext cx="2651760" cy="15544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3716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B8A8F"/>
                </a:solidFill>
                <a:latin typeface="Calibri"/>
              </a:rPr>
              <a:t>640x480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945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B66"/>
                </a:solidFill>
                <a:latin typeface="Calibri"/>
              </a:rPr>
              <a:t>RGB in-cabin 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Only the training folder is labelled (the official test images are not), so we hold out 20% of it for validation.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driver_imgs_list.csv gives the driver ID of every image.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The catch: images are frames from short videos, so frames of one driver look almost identical. A random split can put the same driver in train AND validation, which may inflate accuracy.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This run: 17,747 training and 4,677 validation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Pre-processing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920240" cy="15544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F3A5F"/>
                </a:solidFill>
                <a:latin typeface="Calibri"/>
              </a:rP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F3A5F"/>
                </a:solidFill>
                <a:latin typeface="Calibri"/>
              </a:rPr>
              <a:t>640x480x3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2" y="201168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Calibri"/>
              </a:rP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554480"/>
            <a:ext cx="1920240" cy="1554480"/>
          </a:xfrm>
          <a:prstGeom prst="round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Resize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19456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64x64x3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(OpenCV, area)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01168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Calibri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554480"/>
            <a:ext cx="1920240" cy="15544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F3A5F"/>
                </a:solidFill>
                <a:latin typeface="Calibri"/>
              </a:rPr>
              <a:t>Flatten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19456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F3A5F"/>
                </a:solidFill>
                <a:latin typeface="Calibri"/>
              </a:rPr>
              <a:t>12,288-vector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01168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Calibri"/>
              </a:rP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554480"/>
            <a:ext cx="1920240" cy="1554480"/>
          </a:xfrm>
          <a:prstGeom prst="round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Normalise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19456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divide by 255,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minus train mean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01168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Calibri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554480"/>
            <a:ext cx="1920240" cy="15544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F3A5F"/>
                </a:solidFill>
                <a:latin typeface="Calibri"/>
              </a:rPr>
              <a:t>Classifier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19456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F3A5F"/>
                </a:solidFill>
                <a:latin typeface="Calibri"/>
              </a:rPr>
              <a:t>5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Why 64x64: 640x480x3 is about 921k values per image, too large for from-scratch NumPy models; 12,288 is manageable.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The mean image comes from the TRAIN set only, so validation data never influences preprocessing.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Preprocessed images are cached once as .npz so repeated runs are fast.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Five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2148840" cy="329184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Linear SVM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74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Multi-class hinge loss + L2.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Scores = W x + b,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mini-batch SGD.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79392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B8A8F"/>
                </a:solidFill>
                <a:latin typeface="Calibri"/>
              </a:rPr>
              <a:t>FROM SCRATCH (NumPy)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371600"/>
            <a:ext cx="2148840" cy="329184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463040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Softmax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65960"/>
            <a:ext cx="1874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Cross-entropy + L2.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Same linear scores,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probabilistic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279392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B8A8F"/>
                </a:solidFill>
                <a:latin typeface="Calibri"/>
              </a:rPr>
              <a:t>FROM SCRATCH (NumPy)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371600"/>
            <a:ext cx="2148840" cy="329184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463040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Two-layer 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65960"/>
            <a:ext cx="1874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12,288 -&gt; 100 ReLU -&gt; 10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softmax. He init,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LR decay each epoch.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279392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B8A8F"/>
                </a:solidFill>
                <a:latin typeface="Calibri"/>
              </a:rPr>
              <a:t>FROM SCRATCH (NumPy)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371600"/>
            <a:ext cx="2148840" cy="329184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463040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Naive Bayes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965960"/>
            <a:ext cx="1874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Gaussian per pixel,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assumes pixels are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independent.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279392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B8A8F"/>
                </a:solidFill>
                <a:latin typeface="Calibri"/>
              </a:rPr>
              <a:t>scikit-learn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1371600"/>
            <a:ext cx="2148840" cy="329184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463040"/>
            <a:ext cx="1874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Decision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1965960"/>
            <a:ext cx="1874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Axis-aligned splits on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pixel values.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Default settings.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279392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B8A8F"/>
                </a:solidFill>
                <a:latin typeface="Calibri"/>
              </a:rPr>
              <a:t>scikit-learn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All analytic gradients are checked against numerical gradients (see notebook, section 4).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SVM, softmax and the network tune learning rate and regularisation by grid 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20116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97B29"/>
                </a:solidFill>
                <a:latin typeface="Calibri"/>
              </a:rPr>
              <a:t>1  Random 80/20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Comparable to the reference report.</a:t>
            </a:r>
          </a:p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Frames of the same driver can be on both sides.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0779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B8A8F"/>
                </a:solidFill>
                <a:latin typeface="Calibri"/>
              </a:rPr>
              <a:t>MAY BE OPTIMISTIC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0116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8A8F"/>
                </a:solidFill>
                <a:latin typeface="Calibri"/>
              </a:rPr>
              <a:t>2  Driver-wise 80/20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19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Whole drivers are held out for validation.</a:t>
            </a:r>
          </a:p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Tests generalisation to people never seen in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90779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B8A8F"/>
                </a:solidFill>
                <a:latin typeface="Calibri"/>
              </a:rPr>
              <a:t>STRICTER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Hyper-parameters: grid search over learning rate x regularisation for SVM, softmax and the network.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No peeking: tuning is scored on an inner split of the TRAIN set; validation is used once for the final number.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Metrics: train/validation accuracy, per-class accuracy, confusion matrix of the best model.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555B66"/>
                </a:solidFill>
                <a:latin typeface="Calibri"/>
              </a:rPr>
              <a:t>▸  Reproducible: fixed random seed (these models are sensitive to weight initialisation).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Results: validation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65860"/>
                <a:gridCol w="1165860"/>
                <a:gridCol w="1165860"/>
                <a:gridCol w="11658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Random: train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Random: val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Driver-wise: train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Driver-wise: val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5B66"/>
                          </a:solidFill>
                        </a:rPr>
                        <a:t>Naive Bayes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55.47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55.22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61.12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32.61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5B66"/>
                          </a:solidFill>
                        </a:rP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89.12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29.66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5B66"/>
                          </a:solidFill>
                        </a:rPr>
                        <a:t>Linear SVM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96.16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95.34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93.63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45.39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5B66"/>
                          </a:solidFill>
                        </a:rPr>
                        <a:t>Softmax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71.69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71.39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75.97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41.93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5B66"/>
                          </a:solidFill>
                        </a:rPr>
                        <a:t>Two-layer NN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98.57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98.02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99.10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B66"/>
                          </a:solidFill>
                        </a:rPr>
                        <a:t>51.55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040880" y="1188720"/>
          <a:ext cx="48463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Accuracy in %. Reference report (random split): NN 92.24, softmax 82.31, SVM 71.39, tree 84.73, Naive Bayes 54.99.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Best model: Two-layer NN.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Best model in detail: Two-layer 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pic>
        <p:nvPicPr>
          <p:cNvPr id="5" name="Picture 4" descr="_confusion_for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92462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28016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Per-class validation accuracy, hardest first: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Talking to passenger: 16.7%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Talking on phone - right: 33.8%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Texting - right: 43.5%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Hair and makeup: 46.7%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...and easiest: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Reaching behind: 73.1%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Operating the radio: 73.3%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the results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On the random split, validation accuracy ranks: Two-layer NN 98.0%, Linear SVM 95.3%, Decision Tree 89.1%, Softmax 71.4%, Naive Bayes 55.2%.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On the driver-wise split, validation accuracy ranks: Two-layer NN 51.6%, Linear SVM 45.4%, Softmax 41.9%, Naive Bayes 32.6%, Decision Tree 29.7%.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Holding out whole drivers changes the best model (Two-layer NN) from 98.0% to 51.6%; averaged over all models, validation accuracy falls by 41.6 points.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A large drop is what we would expect if the random split is optimistic: frames of the same driver are near-duplicates, so a model can partly memorise people instead of learning the activity.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The best model (Two-layer NN) fits the training set at 99.1% against 51.6% on validation, a gap of 47.6 points - clear overfitting, so stronger regularisation, augmentation or a CNN would help.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Hardest classes for Two-layer NN: Talking to passenger (16.7%) and Talking on phone - right (33.8%); easiest: Operating the radio (73.3%).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Most frequent confusion: 'Talking on phone - right' predicted as 'Hair and makeup' (173 validation images).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Our random-split numbers can be compared with the reference report (two-layer net 92.2%, softmax 82.3%, SVM 71.4%, decision tree 84.7%, Naive Bayes 55.0%): ours are 98.0%, 71.4%, 95.3%, 89.1% and 55.2%.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B66"/>
                </a:solidFill>
                <a:latin typeface="Consolas"/>
              </a:rPr>
              <a:t>repo/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onsolas"/>
              </a:rPr>
              <a:t>  distracted_driver_detection.ipynb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onsolas"/>
              </a:rPr>
              <a:t>  README.md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onsolas"/>
              </a:rPr>
              <a:t>  requirements.txt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onsolas"/>
              </a:rPr>
              <a:t>  writeup.pdf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onsolas"/>
              </a:rPr>
              <a:t>  slides.pptx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onsolas"/>
              </a:rPr>
              <a:t>  results_random/</a:t>
            </a:r>
          </a:p>
          <a:p>
            <a:pPr algn="l"/>
            <a:r>
              <a:rPr sz="1500" b="0">
                <a:solidFill>
                  <a:srgbClr val="555B66"/>
                </a:solidFill>
                <a:latin typeface="Consolas"/>
              </a:rPr>
              <a:t>  results_driver/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28016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From scratch: vectorised losses and back-propagation in NumPy.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Verified: numerical gradient check, error below 1e-6.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Leak-free: driver-wise split, train-only mean image, tuning on an inner split.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Reproducible: fixed seed; everything runs top to bottom in one notebook.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Cached: preprocessed images stored once as .npz.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▸  Saved models are reused by the live-demo cell.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1  Open the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Final section loads the saved two-layer net and the mean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2  Pick an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Set IMAGE_PATH to any driver photo, e.g. one from data/state-farm/train/.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394960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3  Run the cell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Shows the image, the predicted activity and top-3 probabilities.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319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4  Show the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3484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results_driver/results.json, confusion_matrix.png, loss_curves.png.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Conclusions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UE24CS352A  |  ML Mini-Project #24  |  Arya Devang (PES1UG24AM054) | Ananthakrishna (PES1UG24AM036)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486400" cy="484632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2120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Re-implemented SVM, softmax and a two-layer net from scratch; gradients verified numerically.</a:t>
            </a:r>
          </a:p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Compared them with Naive Bayes and a decision tree under two evaluation protocols.</a:t>
            </a:r>
          </a:p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Driver-wise best: Two-layer NN at 51.6% validation accuracy.</a:t>
            </a:r>
          </a:p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Random-split best: Two-layer NN at 98.0%.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484632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716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50292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64x64 raw pixels lose detail (phone vs hand); fully-connected models ignore spatial structure.</a:t>
            </a:r>
          </a:p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Single seed and single split.</a:t>
            </a:r>
          </a:p>
          <a:p>
            <a:pPr algn="l"/>
            <a:r>
              <a:rPr sz="1800" b="0">
                <a:solidFill>
                  <a:srgbClr val="555B66"/>
                </a:solidFill>
                <a:latin typeface="Calibri"/>
              </a:rPr>
              <a:t>Next: CNN or transfer learning, data augmentation, driver-grouped k-fold CV, semi-supervised use of the unlabelled test images.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