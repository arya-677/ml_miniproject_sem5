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d6a340b-edcb-4c14-6678-31aba8da8a11}">
          <p14:sldIdLst>
            <p14:sldId id="256"/>
            <p14:sldId id="257"/>
          </p14:sldIdLst>
        </p14:section>
        <p14:section name="Method" id="{2fa818ce-1b36-592b-8b11-18166bdbdf35}">
          <p14:sldIdLst>
            <p14:sldId id="258"/>
            <p14:sldId id="259"/>
            <p14:sldId id="260"/>
            <p14:sldId id="261"/>
          </p14:sldIdLst>
        </p14:section>
        <p14:section name="Results" id="{642444db-5c57-7e5f-dd99-14edc605df99}">
          <p14:sldIdLst>
            <p14:sldId id="262"/>
            <p14:sldId id="263"/>
          </p14:sldIdLst>
        </p14:section>
        <p14:section name="Wrap-up" id="{68030c5e-79a8-7cb4-8245-d96275024eb9}">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827"/>
                </a:solidFill>
                <a:latin typeface="+mn-lt"/>
              </a:defRPr>
            </a:pPr>
            <a:r>
              <a:rPr sz="1400" b="0" i="0" u="none" strike="noStrike">
                <a:solidFill>
                  <a:srgbClr val="111827"/>
                </a:solidFill>
                <a:latin typeface="+mn-lt"/>
              </a:rPr>
              <a:t>Validation accuracy (%)</a:t>
            </a:r>
          </a:p>
        </c:rich>
      </c:tx>
      <c:layout/>
      <c:overlay val="0"/>
    </c:title>
    <c:autoTitleDeleted val="0"/>
    <c:plotArea>
      <c:layout/>
      <c:barChart>
        <c:barDir val="col"/>
        <c:grouping val="clustered"/>
        <c:varyColors val="0"/>
        <c:ser>
          <c:idx val="0"/>
          <c:order val="0"/>
          <c:tx>
            <c:strRef>
              <c:f>Sheet1!$B$1</c:f>
              <c:strCache>
                <c:ptCount val="1"/>
                <c:pt idx="0">
                  <c:v>Random split</c:v>
                </c:pt>
              </c:strCache>
            </c:strRef>
          </c:tx>
          <c:spPr>
            <a:solidFill>
              <a:srgbClr val="0D9488"/>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Sheet1!$B$2:$B$6</c:f>
              <c:numCache>
                <c:formatCode>General</c:formatCode>
                <c:ptCount val="5"/>
                <c:pt idx="0">
                  <c:v>55.22</c:v>
                </c:pt>
                <c:pt idx="1">
                  <c:v>89.12</c:v>
                </c:pt>
                <c:pt idx="2">
                  <c:v>95.34</c:v>
                </c:pt>
                <c:pt idx="3">
                  <c:v>71.39</c:v>
                </c:pt>
                <c:pt idx="4">
                  <c:v>98.02</c:v>
                </c:pt>
              </c:numCache>
            </c:numRef>
          </c:val>
        </c:ser>
        <c:ser>
          <c:idx val="1"/>
          <c:order val="1"/>
          <c:tx>
            <c:strRef>
              <c:f>Sheet1!$C$1</c:f>
              <c:strCache>
                <c:ptCount val="1"/>
                <c:pt idx="0">
                  <c:v>Driver-wise split</c:v>
                </c:pt>
              </c:strCache>
            </c:strRef>
          </c:tx>
          <c:spPr>
            <a:solidFill>
              <a:srgbClr val="F59E0B"/>
            </a:solidFill>
            <a:effectLst/>
          </c:spPr>
          <c:invertIfNegative val="0"/>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cat>
            <c:multiLvlStrRef>
              <c:f>Sheet1!$A$2:$A$6</c:f>
              <c:multiLvlStrCache>
                <c:ptCount val="5"/>
                <c:lvl>
                  <c:pt idx="0">
                    <c:v>Naive Bayes</c:v>
                  </c:pt>
                  <c:pt idx="1">
                    <c:v>Decision Tree</c:v>
                  </c:pt>
                  <c:pt idx="2">
                    <c:v>Linear SVM</c:v>
                  </c:pt>
                  <c:pt idx="3">
                    <c:v>Softmax</c:v>
                  </c:pt>
                  <c:pt idx="4">
                    <c:v>Two-layer NN</c:v>
                  </c:pt>
                </c:lvl>
              </c:multiLvlStrCache>
            </c:multiLvlStrRef>
          </c:cat>
          <c:val>
            <c:numRef>
              <c:f>Sheet1!$C$2:$C$6</c:f>
              <c:numCache>
                <c:formatCode>General</c:formatCode>
                <c:ptCount val="5"/>
                <c:pt idx="0">
                  <c:v>32.61</c:v>
                </c:pt>
                <c:pt idx="1">
                  <c:v>29.66</c:v>
                </c:pt>
                <c:pt idx="2">
                  <c:v>45.39</c:v>
                </c:pt>
                <c:pt idx="3">
                  <c:v>41.93</c:v>
                </c:pt>
                <c:pt idx="4">
                  <c:v>51.55</c:v>
                </c:pt>
              </c:numCache>
            </c:numRef>
          </c:val>
        </c:ser>
        <c:dLbls>
          <c:numFmt formatCode="0.0" sourceLinked="0"/>
          <c:txPr>
            <a:bodyPr/>
            <a:lstStyle/>
            <a:p>
              <a:pPr>
                <a:defRPr b="0" i="0" strike="noStrike" sz="1000" u="none">
                  <a:solidFill>
                    <a:srgbClr val="1118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Per-class accuracy, driver-wise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0D9488"/>
            </a:solidFill>
            <a:effectLst/>
          </c:spPr>
          <c:invertIfNegative val="0"/>
          <c:dLbls>
            <c:numFmt formatCode="0.0" sourceLinked="0"/>
            <c:txPr>
              <a:bodyPr/>
              <a:lstStyle/>
              <a:p>
                <a:pPr>
                  <a:defRPr b="0" i="0" strike="noStrike" sz="900" u="none">
                    <a:solidFill>
                      <a:srgbClr val="111827"/>
                    </a:solidFill>
                    <a:latin typeface="+mn-lt"/>
                  </a:defRPr>
                </a:pPr>
              </a:p>
            </c:txPr>
            <c:showLegendKey val="0"/>
            <c:showVal val="1"/>
            <c:showCatName val="0"/>
            <c:showSerName val="0"/>
            <c:showPercent val="0"/>
            <c:showBubbleSize val="0"/>
            <c:showLeaderLines val="0"/>
          </c:dLbls>
          <c:cat>
            <c:multiLvlStrRef>
              <c:f>Sheet1!$A$2:$A$11</c:f>
              <c:multiLvlStrCache>
                <c:ptCount val="10"/>
                <c:lvl>
                  <c:pt idx="0">
                    <c:v>Operating radio</c:v>
                  </c:pt>
                  <c:pt idx="1">
                    <c:v>Reaching behind</c:v>
                  </c:pt>
                  <c:pt idx="2">
                    <c:v>Texting - left</c:v>
                  </c:pt>
                  <c:pt idx="3">
                    <c:v>Safe driving</c:v>
                  </c:pt>
                  <c:pt idx="4">
                    <c:v>Phone - left</c:v>
                  </c:pt>
                  <c:pt idx="5">
                    <c:v>Drinking</c:v>
                  </c:pt>
                  <c:pt idx="6">
                    <c:v>Hair and makeup</c:v>
                  </c:pt>
                  <c:pt idx="7">
                    <c:v>Texting - right</c:v>
                  </c:pt>
                  <c:pt idx="8">
                    <c:v>Phone - right</c:v>
                  </c:pt>
                  <c:pt idx="9">
                    <c:v>Talk to passenger</c:v>
                  </c:pt>
                </c:lvl>
              </c:multiLvlStrCache>
            </c:multiLvlStrRef>
          </c:cat>
          <c:val>
            <c:numRef>
              <c:f>Sheet1!$B$2:$B$11</c:f>
              <c:numCache>
                <c:formatCode>General</c:formatCode>
                <c:ptCount val="10"/>
                <c:pt idx="0">
                  <c:v>73.29</c:v>
                </c:pt>
                <c:pt idx="1">
                  <c:v>73.08</c:v>
                </c:pt>
                <c:pt idx="2">
                  <c:v>68.96</c:v>
                </c:pt>
                <c:pt idx="3">
                  <c:v>61.1</c:v>
                </c:pt>
                <c:pt idx="4">
                  <c:v>47.38</c:v>
                </c:pt>
                <c:pt idx="5">
                  <c:v>47.2</c:v>
                </c:pt>
                <c:pt idx="6">
                  <c:v>46.69</c:v>
                </c:pt>
                <c:pt idx="7">
                  <c:v>43.53</c:v>
                </c:pt>
                <c:pt idx="8">
                  <c:v>33.83</c:v>
                </c:pt>
                <c:pt idx="9">
                  <c:v>16.67</c:v>
                </c:pt>
              </c:numCache>
            </c:numRef>
          </c:val>
        </c:ser>
        <c:dLbls>
          <c:numFmt formatCode="0.0" sourceLinked="0"/>
          <c:txPr>
            <a:bodyPr/>
            <a:lstStyle/>
            <a:p>
              <a:pPr>
                <a:defRPr b="0" i="0" strike="noStrike" sz="900" u="none">
                  <a:solidFill>
                    <a:srgbClr val="1118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in one sentence: given one in-cabin image, predict the driver's activity (10 classes). We re-implemented the CS229 report by Feng &amp; Yue and extended it with a stricter test: unseen drivers. Roadmap: problem and data, pre-processing, the five models, training and verification, results, best-model analysis, conclusions and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10 classes (c0 safe driving, c1-c9 distractions). Stress the two parts of our question: (1) compare five models, (2) test whether accuracy survives on new drivers. The second part is what we added on top of the reference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of the whole project: the dataset has 26 drivers and each contributes thousands of near-identical frames. A random split puts the same person in train and validation, so a model can memorise people. The driver-wise split fixes that: 21 drivers train, 5 drivers validate, zero overlap. We report both so the results can be compared with the reference paper (random) and also show the honest number (driver-wise).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Resizing to 64x64 is a trade-off: it makes from-scratch training feasible but loses fine detail (phone versus hand). Subtracting the training mean image centres the data, which helps gradient descent. The mean is computed on the training split only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one sentence each. SVM and softmax both draw straight dividing lines; the SVM focuses on borderline examples, softmax gives probabilities. The neural net adds one hidden layer of 100 units so it can learn more complex patterns. Naive Bayes treats every pixel as independent, which is not true for images. The decision tree uses default settings, so it keeps asking questions until it fits every training image. (If asked: the SVM uses hinge loss, softmax and the net use cross-entropy loss, all with L2 regularisation.)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(1) Learning: the models learn from small random batches of images for 2,000 steps, with a fixed seed so results repeat (technically mini-batch SGD). (2) Choosing settings: we tried several combinations of learning speed and regularisation and picked the best on a part of the training data, so the validation set is only used for the final number. (3) Checking: we compared our hand-written gradients with a slow numerical check; they agree to about 1e-10, so the from-scratch maths is correct. Exact chosen values are in 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in two steps. Teal bars (random split): ranking is NN 98.0, SVM 95.3, tree 89.1, softmax 71.4, Naive Bayes 55.2, which beats or matches the reference paper. Amber bars (driver-wise split): every model falls, from 98 to 52 for the best one. The neural network is still best, but the decision tree falls the furthest, from 89 to 30. Our SVM is much higher than the paper's 71.4 because we tuned the learning rate and regularisation by grid search and fixed the initialisation. Why the drop? Frames from one driver are near-identical, so on the random split models can memorise people (the tree scores 100% on training but 29.7% on new drivers; the network 99.1% vs 51.6%). Caveat: only 5 validation drivers and one seed, so exact numbers are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on the driver-wise split for the best model. Strong diagonal for reaching behind, operating the radio and texting-left. The weak spot is the c8 column: the network pushes uncertain right-hand-near-face images into 'hair and makeup'. Phone-right, texting-right, drinking and hair/makeup all share the same pose (right hand near the face) and at 64x64 the object in the hand is only a few pixels. Talk-to-passenger is worst at 16.7% because it has no distinctive object, only head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findings, then the honest limitations. Then do the live demo: open distracted_driver_detection.ipynb, scroll to section 8, run the cell. It loads results_driver/model_nn.npz plus the saved mean image, shows the image, prints the prediction and top-3 probabilities. Have one image from a class the model handles well (e.g. reaching behind, operating the radio) ready as backup, and be ready to explain a wrong prediction using the confusion matrix. Repo: github.com/Arya-677/ML_miniProject_sem5.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11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rgbClr val="111827"/>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txBox="1"/>
          <p:nvPr/>
        </p:nvSpPr>
        <p:spPr>
          <a:xfrm>
            <a:off x="457200" y="4800600"/>
            <a:ext cx="59436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UE24CS352A  |  Distracted Driver Detection  |  Problem #24</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118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lass-dot-0"/>
          <p:cNvSpPr/>
          <p:nvPr/>
        </p:nvSpPr>
        <p:spPr>
          <a:xfrm>
            <a:off x="548640" y="640080"/>
            <a:ext cx="182880" cy="182880"/>
          </a:xfrm>
          <a:prstGeom prst="ellipse">
            <a:avLst/>
          </a:prstGeom>
          <a:solidFill>
            <a:srgbClr val="0D9488"/>
          </a:solidFill>
          <a:ln w="12700">
            <a:solidFill>
              <a:srgbClr val="0D9488"/>
            </a:solidFill>
            <a:prstDash val="solid"/>
          </a:ln>
        </p:spPr>
      </p:sp>
      <p:sp>
        <p:nvSpPr>
          <p:cNvPr id="3" name="class-dot-1"/>
          <p:cNvSpPr/>
          <p:nvPr/>
        </p:nvSpPr>
        <p:spPr>
          <a:xfrm>
            <a:off x="859536" y="640080"/>
            <a:ext cx="182880" cy="182880"/>
          </a:xfrm>
          <a:prstGeom prst="ellipse">
            <a:avLst/>
          </a:prstGeom>
          <a:solidFill>
            <a:srgbClr val="F59E0B"/>
          </a:solidFill>
          <a:ln w="12700">
            <a:solidFill>
              <a:srgbClr val="F59E0B"/>
            </a:solidFill>
            <a:prstDash val="solid"/>
          </a:ln>
        </p:spPr>
      </p:sp>
      <p:sp>
        <p:nvSpPr>
          <p:cNvPr id="4" name="class-dot-2"/>
          <p:cNvSpPr/>
          <p:nvPr/>
        </p:nvSpPr>
        <p:spPr>
          <a:xfrm>
            <a:off x="1170432" y="640080"/>
            <a:ext cx="182880" cy="182880"/>
          </a:xfrm>
          <a:prstGeom prst="ellipse">
            <a:avLst/>
          </a:prstGeom>
          <a:solidFill>
            <a:srgbClr val="F59E0B"/>
          </a:solidFill>
          <a:ln w="12700">
            <a:solidFill>
              <a:srgbClr val="F59E0B"/>
            </a:solidFill>
            <a:prstDash val="solid"/>
          </a:ln>
        </p:spPr>
      </p:sp>
      <p:sp>
        <p:nvSpPr>
          <p:cNvPr id="5" name="class-dot-3"/>
          <p:cNvSpPr/>
          <p:nvPr/>
        </p:nvSpPr>
        <p:spPr>
          <a:xfrm>
            <a:off x="1481328" y="640080"/>
            <a:ext cx="182880" cy="182880"/>
          </a:xfrm>
          <a:prstGeom prst="ellipse">
            <a:avLst/>
          </a:prstGeom>
          <a:solidFill>
            <a:srgbClr val="F59E0B"/>
          </a:solidFill>
          <a:ln w="12700">
            <a:solidFill>
              <a:srgbClr val="F59E0B"/>
            </a:solidFill>
            <a:prstDash val="solid"/>
          </a:ln>
        </p:spPr>
      </p:sp>
      <p:sp>
        <p:nvSpPr>
          <p:cNvPr id="6" name="class-dot-4"/>
          <p:cNvSpPr/>
          <p:nvPr/>
        </p:nvSpPr>
        <p:spPr>
          <a:xfrm>
            <a:off x="1792224" y="640080"/>
            <a:ext cx="182880" cy="182880"/>
          </a:xfrm>
          <a:prstGeom prst="ellipse">
            <a:avLst/>
          </a:prstGeom>
          <a:solidFill>
            <a:srgbClr val="F59E0B"/>
          </a:solidFill>
          <a:ln w="12700">
            <a:solidFill>
              <a:srgbClr val="F59E0B"/>
            </a:solidFill>
            <a:prstDash val="solid"/>
          </a:ln>
        </p:spPr>
      </p:sp>
      <p:sp>
        <p:nvSpPr>
          <p:cNvPr id="7" name="class-dot-5"/>
          <p:cNvSpPr/>
          <p:nvPr/>
        </p:nvSpPr>
        <p:spPr>
          <a:xfrm>
            <a:off x="2103120" y="640080"/>
            <a:ext cx="182880" cy="182880"/>
          </a:xfrm>
          <a:prstGeom prst="ellipse">
            <a:avLst/>
          </a:prstGeom>
          <a:solidFill>
            <a:srgbClr val="F59E0B"/>
          </a:solidFill>
          <a:ln w="12700">
            <a:solidFill>
              <a:srgbClr val="F59E0B"/>
            </a:solidFill>
            <a:prstDash val="solid"/>
          </a:ln>
        </p:spPr>
      </p:sp>
      <p:sp>
        <p:nvSpPr>
          <p:cNvPr id="8" name="class-dot-6"/>
          <p:cNvSpPr/>
          <p:nvPr/>
        </p:nvSpPr>
        <p:spPr>
          <a:xfrm>
            <a:off x="2414016" y="640080"/>
            <a:ext cx="182880" cy="182880"/>
          </a:xfrm>
          <a:prstGeom prst="ellipse">
            <a:avLst/>
          </a:prstGeom>
          <a:solidFill>
            <a:srgbClr val="F59E0B"/>
          </a:solidFill>
          <a:ln w="12700">
            <a:solidFill>
              <a:srgbClr val="F59E0B"/>
            </a:solidFill>
            <a:prstDash val="solid"/>
          </a:ln>
        </p:spPr>
      </p:sp>
      <p:sp>
        <p:nvSpPr>
          <p:cNvPr id="9" name="class-dot-7"/>
          <p:cNvSpPr/>
          <p:nvPr/>
        </p:nvSpPr>
        <p:spPr>
          <a:xfrm>
            <a:off x="2724912" y="640080"/>
            <a:ext cx="182880" cy="182880"/>
          </a:xfrm>
          <a:prstGeom prst="ellipse">
            <a:avLst/>
          </a:prstGeom>
          <a:solidFill>
            <a:srgbClr val="F59E0B"/>
          </a:solidFill>
          <a:ln w="12700">
            <a:solidFill>
              <a:srgbClr val="F59E0B"/>
            </a:solidFill>
            <a:prstDash val="solid"/>
          </a:ln>
        </p:spPr>
      </p:sp>
      <p:sp>
        <p:nvSpPr>
          <p:cNvPr id="10" name="class-dot-8"/>
          <p:cNvSpPr/>
          <p:nvPr/>
        </p:nvSpPr>
        <p:spPr>
          <a:xfrm>
            <a:off x="3035808" y="640080"/>
            <a:ext cx="182880" cy="182880"/>
          </a:xfrm>
          <a:prstGeom prst="ellipse">
            <a:avLst/>
          </a:prstGeom>
          <a:solidFill>
            <a:srgbClr val="F59E0B"/>
          </a:solidFill>
          <a:ln w="12700">
            <a:solidFill>
              <a:srgbClr val="F59E0B"/>
            </a:solidFill>
            <a:prstDash val="solid"/>
          </a:ln>
        </p:spPr>
      </p:sp>
      <p:sp>
        <p:nvSpPr>
          <p:cNvPr id="11" name="class-dot-9"/>
          <p:cNvSpPr/>
          <p:nvPr/>
        </p:nvSpPr>
        <p:spPr>
          <a:xfrm>
            <a:off x="3346704" y="640080"/>
            <a:ext cx="182880" cy="182880"/>
          </a:xfrm>
          <a:prstGeom prst="ellipse">
            <a:avLst/>
          </a:prstGeom>
          <a:solidFill>
            <a:srgbClr val="F59E0B"/>
          </a:solidFill>
          <a:ln w="12700">
            <a:solidFill>
              <a:srgbClr val="F59E0B"/>
            </a:solidFill>
            <a:prstDash val="solid"/>
          </a:ln>
        </p:spPr>
      </p:sp>
      <p:sp>
        <p:nvSpPr>
          <p:cNvPr id="12" name="Text 10"/>
          <p:cNvSpPr txBox="1"/>
          <p:nvPr/>
        </p:nvSpPr>
        <p:spPr>
          <a:xfrm>
            <a:off x="3840480" y="603504"/>
            <a:ext cx="4572000" cy="25603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10 classes: 1 safe, 9 distractions</a:t>
            </a:r>
            <a:endParaRPr lang="en-US" sz="1200" dirty="0"/>
          </a:p>
        </p:txBody>
      </p:sp>
      <p:sp>
        <p:nvSpPr>
          <p:cNvPr id="13" name="Text 11"/>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Distracted Driver Detection</a:t>
            </a:r>
            <a:endParaRPr lang="en-US" sz="4400" dirty="0"/>
          </a:p>
        </p:txBody>
      </p:sp>
      <p:sp>
        <p:nvSpPr>
          <p:cNvPr id="14" name="Text 12"/>
          <p:cNvSpPr txBox="1"/>
          <p:nvPr/>
        </p:nvSpPr>
        <p:spPr>
          <a:xfrm>
            <a:off x="548640" y="2286000"/>
            <a:ext cx="6949440" cy="822960"/>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Can simple models on raw pixels recognise what a driver is doing, even for drivers they have never seen?</a:t>
            </a:r>
            <a:endParaRPr lang="en-US" sz="1800" dirty="0"/>
          </a:p>
        </p:txBody>
      </p:sp>
      <p:sp>
        <p:nvSpPr>
          <p:cNvPr id="15" name="title-card"/>
          <p:cNvSpPr/>
          <p:nvPr/>
        </p:nvSpPr>
        <p:spPr>
          <a:xfrm>
            <a:off x="548640" y="3429000"/>
            <a:ext cx="8046720" cy="1097280"/>
          </a:xfrm>
          <a:prstGeom prst="roundRect">
            <a:avLst>
              <a:gd name="adj" fmla="val 6667"/>
            </a:avLst>
          </a:prstGeom>
          <a:solidFill>
            <a:srgbClr val="1F2937"/>
          </a:solidFill>
          <a:ln w="12700">
            <a:solidFill>
              <a:srgbClr val="1F2937"/>
            </a:solidFill>
            <a:prstDash val="solid"/>
          </a:ln>
        </p:spPr>
      </p:sp>
      <p:sp>
        <p:nvSpPr>
          <p:cNvPr id="16" name="Text 14"/>
          <p:cNvSpPr txBox="1"/>
          <p:nvPr/>
        </p:nvSpPr>
        <p:spPr>
          <a:xfrm>
            <a:off x="822960" y="3547872"/>
            <a:ext cx="7498080" cy="868680"/>
          </a:xfrm>
          <a:prstGeom prst="rect">
            <a:avLst/>
          </a:prstGeom>
          <a:noFill/>
          <a:ln/>
        </p:spPr>
        <p:txBody>
          <a:bodyPr wrap="square" lIns="0" tIns="0" rIns="0" bIns="0" rtlCol="0" anchor="ctr"/>
          <a:lstStyle/>
          <a:p>
            <a:pPr indent="0" marL="0">
              <a:spcAft>
                <a:spcPts val="300"/>
              </a:spcAft>
              <a:buNone/>
            </a:pPr>
            <a:r>
              <a:rPr lang="en-US" sz="1400" b="1" dirty="0">
                <a:solidFill>
                  <a:srgbClr val="F59E0B"/>
                </a:solidFill>
                <a:latin typeface="Calibri" pitchFamily="34" charset="0"/>
                <a:ea typeface="Calibri" pitchFamily="34" charset="-122"/>
                <a:cs typeface="Calibri" pitchFamily="34" charset="-120"/>
              </a:rPr>
              <a:t>UE24CS352A Machine Learning  |  Mini-Project  |  Problem #24</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Arya Devang (PES1UG24AM054)   |   Ananthakrishna (PES1UG24AM036)</a:t>
            </a:r>
            <a:endParaRPr lang="en-US" sz="1400" dirty="0"/>
          </a:p>
          <a:p>
            <a:pPr indent="0" marL="0">
              <a:spcAft>
                <a:spcPts val="300"/>
              </a:spcAft>
              <a:buNone/>
            </a:pPr>
            <a:r>
              <a:rPr lang="en-US" sz="1400" dirty="0">
                <a:solidFill>
                  <a:srgbClr val="94A3B8"/>
                </a:solidFill>
                <a:latin typeface="Calibri" pitchFamily="34" charset="0"/>
                <a:ea typeface="Calibri" pitchFamily="34" charset="-122"/>
                <a:cs typeface="Calibri" pitchFamily="34" charset="-120"/>
              </a:rPr>
              <a:t>github.com/Arya-677/ML_miniProject_sem5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One image in, one of 10 activities out</a:t>
            </a:r>
            <a:endParaRPr lang="en-US" sz="2800" dirty="0"/>
          </a:p>
        </p:txBody>
      </p:sp>
      <p:sp>
        <p:nvSpPr>
          <p:cNvPr id="3" name="Text 1"/>
          <p:cNvSpPr txBox="1"/>
          <p:nvPr/>
        </p:nvSpPr>
        <p:spPr>
          <a:xfrm>
            <a:off x="457200" y="1143000"/>
            <a:ext cx="3749040" cy="2468880"/>
          </a:xfrm>
          <a:prstGeom prst="rect">
            <a:avLst/>
          </a:prstGeom>
          <a:noFill/>
          <a:ln/>
        </p:spPr>
        <p:txBody>
          <a:bodyPr wrap="square" lIns="0" tIns="0" rIns="0" bIns="0" rtlCol="0" anchor="t"/>
          <a:lstStyle/>
          <a:p>
            <a:pPr indent="0" marL="0">
              <a:buNone/>
            </a:pPr>
            <a:r>
              <a:rPr lang="en-US" sz="1400" b="1" dirty="0">
                <a:solidFill>
                  <a:srgbClr val="0D9488"/>
                </a:solidFill>
                <a:latin typeface="Calibri" pitchFamily="34" charset="0"/>
                <a:ea typeface="Calibri" pitchFamily="34" charset="-122"/>
                <a:cs typeface="Calibri" pitchFamily="34" charset="-120"/>
              </a:rPr>
              <a:t>Task</a:t>
            </a:r>
            <a:endParaRPr lang="en-US" sz="1400" dirty="0"/>
          </a:p>
          <a:p>
            <a:pPr indent="0" marL="0">
              <a:spcAft>
                <a:spcPts val="1000"/>
              </a:spcAft>
              <a:buNone/>
            </a:pPr>
            <a:r>
              <a:rPr lang="en-US" sz="1400" dirty="0">
                <a:solidFill>
                  <a:srgbClr val="111827"/>
                </a:solidFill>
                <a:latin typeface="Calibri" pitchFamily="34" charset="0"/>
                <a:ea typeface="Calibri" pitchFamily="34" charset="-122"/>
                <a:cs typeface="Calibri" pitchFamily="34" charset="-120"/>
              </a:rPr>
              <a:t>Given a single in-cabin camera frame, classify the driver's activity.</a:t>
            </a:r>
            <a:endParaRPr lang="en-US" sz="1400" dirty="0"/>
          </a:p>
          <a:p>
            <a:pPr indent="0" marL="0">
              <a:buNone/>
            </a:pPr>
            <a:r>
              <a:rPr lang="en-US" sz="1400" b="1" dirty="0">
                <a:solidFill>
                  <a:srgbClr val="0D9488"/>
                </a:solidFill>
                <a:latin typeface="Calibri" pitchFamily="34" charset="0"/>
                <a:ea typeface="Calibri" pitchFamily="34" charset="-122"/>
                <a:cs typeface="Calibri" pitchFamily="34" charset="-120"/>
              </a:rPr>
              <a:t>Why it matters</a:t>
            </a:r>
            <a:endParaRPr lang="en-US" sz="1400" dirty="0"/>
          </a:p>
          <a:p>
            <a:pPr indent="0" marL="0">
              <a:spcAft>
                <a:spcPts val="1000"/>
              </a:spcAft>
              <a:buNone/>
            </a:pPr>
            <a:r>
              <a:rPr lang="en-US" sz="1400" dirty="0">
                <a:solidFill>
                  <a:srgbClr val="111827"/>
                </a:solidFill>
                <a:latin typeface="Calibri" pitchFamily="34" charset="0"/>
                <a:ea typeface="Calibri" pitchFamily="34" charset="-122"/>
                <a:cs typeface="Calibri" pitchFamily="34" charset="-120"/>
              </a:rPr>
              <a:t>Distracted driving contributes to serious crashes, and different activities carry different risk.</a:t>
            </a:r>
            <a:endParaRPr lang="en-US" sz="1400" dirty="0"/>
          </a:p>
          <a:p>
            <a:pPr indent="0" marL="0">
              <a:buNone/>
            </a:pPr>
            <a:r>
              <a:rPr lang="en-US" sz="1400" b="1" dirty="0">
                <a:solidFill>
                  <a:srgbClr val="0D9488"/>
                </a:solidFill>
                <a:latin typeface="Calibri" pitchFamily="34" charset="0"/>
                <a:ea typeface="Calibri" pitchFamily="34" charset="-122"/>
                <a:cs typeface="Calibri" pitchFamily="34" charset="-120"/>
              </a:rPr>
              <a:t>Basis</a:t>
            </a:r>
            <a:endParaRPr lang="en-US" sz="1400" dirty="0"/>
          </a:p>
          <a:p>
            <a:pPr indent="0" marL="0">
              <a:buNone/>
            </a:pPr>
            <a:r>
              <a:rPr lang="en-US" sz="1400" dirty="0">
                <a:solidFill>
                  <a:srgbClr val="111827"/>
                </a:solidFill>
                <a:latin typeface="Calibri" pitchFamily="34" charset="0"/>
                <a:ea typeface="Calibri" pitchFamily="34" charset="-122"/>
                <a:cs typeface="Calibri" pitchFamily="34" charset="-120"/>
              </a:rPr>
              <a:t>Re-implementation of the CS229 report (Feng &amp; Yue, 2019): five classifiers on raw pixels.</a:t>
            </a:r>
            <a:endParaRPr lang="en-US" sz="1400" dirty="0"/>
          </a:p>
        </p:txBody>
      </p:sp>
      <p:sp>
        <p:nvSpPr>
          <p:cNvPr id="4" name="class-chip-0"/>
          <p:cNvSpPr/>
          <p:nvPr/>
        </p:nvSpPr>
        <p:spPr>
          <a:xfrm>
            <a:off x="4526280" y="1143000"/>
            <a:ext cx="2011680" cy="420624"/>
          </a:xfrm>
          <a:prstGeom prst="roundRect">
            <a:avLst>
              <a:gd name="adj" fmla="val 17391"/>
            </a:avLst>
          </a:prstGeom>
          <a:solidFill>
            <a:srgbClr val="0D9488"/>
          </a:solidFill>
          <a:ln w="12700">
            <a:solidFill>
              <a:srgbClr val="0D9488"/>
            </a:solidFill>
            <a:prstDash val="solid"/>
          </a:ln>
        </p:spPr>
      </p:sp>
      <p:sp>
        <p:nvSpPr>
          <p:cNvPr id="5" name="Text 3"/>
          <p:cNvSpPr txBox="1"/>
          <p:nvPr/>
        </p:nvSpPr>
        <p:spPr>
          <a:xfrm>
            <a:off x="4636008" y="1143000"/>
            <a:ext cx="1828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c0  </a:t>
            </a:r>
            <a:pPr indent="0" marL="0">
              <a:buNone/>
            </a:pPr>
            <a:r>
              <a:rPr lang="en-US" sz="1200" dirty="0">
                <a:solidFill>
                  <a:srgbClr val="FFFFFF"/>
                </a:solidFill>
                <a:latin typeface="Calibri" pitchFamily="34" charset="0"/>
                <a:ea typeface="Calibri" pitchFamily="34" charset="-122"/>
                <a:cs typeface="Calibri" pitchFamily="34" charset="-120"/>
              </a:rPr>
              <a:t>Safe driving</a:t>
            </a:r>
            <a:endParaRPr lang="en-US" sz="1200" dirty="0"/>
          </a:p>
        </p:txBody>
      </p:sp>
      <p:sp>
        <p:nvSpPr>
          <p:cNvPr id="6" name="class-chip-1"/>
          <p:cNvSpPr/>
          <p:nvPr/>
        </p:nvSpPr>
        <p:spPr>
          <a:xfrm>
            <a:off x="6629400" y="1143000"/>
            <a:ext cx="2011680" cy="420624"/>
          </a:xfrm>
          <a:prstGeom prst="roundRect">
            <a:avLst>
              <a:gd name="adj" fmla="val 17391"/>
            </a:avLst>
          </a:prstGeom>
          <a:solidFill>
            <a:srgbClr val="F1F5F9"/>
          </a:solidFill>
          <a:ln w="12700">
            <a:solidFill>
              <a:srgbClr val="F1F5F9"/>
            </a:solidFill>
            <a:prstDash val="solid"/>
          </a:ln>
        </p:spPr>
      </p:sp>
      <p:sp>
        <p:nvSpPr>
          <p:cNvPr id="7" name="Text 5"/>
          <p:cNvSpPr txBox="1"/>
          <p:nvPr/>
        </p:nvSpPr>
        <p:spPr>
          <a:xfrm>
            <a:off x="6739128" y="1143000"/>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c1  </a:t>
            </a:r>
            <a:pPr indent="0" marL="0">
              <a:buNone/>
            </a:pPr>
            <a:r>
              <a:rPr lang="en-US" sz="1200" dirty="0">
                <a:solidFill>
                  <a:srgbClr val="111827"/>
                </a:solidFill>
                <a:latin typeface="Calibri" pitchFamily="34" charset="0"/>
                <a:ea typeface="Calibri" pitchFamily="34" charset="-122"/>
                <a:cs typeface="Calibri" pitchFamily="34" charset="-120"/>
              </a:rPr>
              <a:t>Texting - right</a:t>
            </a:r>
            <a:endParaRPr lang="en-US" sz="1200" dirty="0"/>
          </a:p>
        </p:txBody>
      </p:sp>
      <p:sp>
        <p:nvSpPr>
          <p:cNvPr id="8" name="class-chip-2"/>
          <p:cNvSpPr/>
          <p:nvPr/>
        </p:nvSpPr>
        <p:spPr>
          <a:xfrm>
            <a:off x="4526280" y="1655064"/>
            <a:ext cx="2011680" cy="420624"/>
          </a:xfrm>
          <a:prstGeom prst="roundRect">
            <a:avLst>
              <a:gd name="adj" fmla="val 17391"/>
            </a:avLst>
          </a:prstGeom>
          <a:solidFill>
            <a:srgbClr val="F1F5F9"/>
          </a:solidFill>
          <a:ln w="12700">
            <a:solidFill>
              <a:srgbClr val="F1F5F9"/>
            </a:solidFill>
            <a:prstDash val="solid"/>
          </a:ln>
        </p:spPr>
      </p:sp>
      <p:sp>
        <p:nvSpPr>
          <p:cNvPr id="9" name="Text 7"/>
          <p:cNvSpPr txBox="1"/>
          <p:nvPr/>
        </p:nvSpPr>
        <p:spPr>
          <a:xfrm>
            <a:off x="4636008" y="1655064"/>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c2  </a:t>
            </a:r>
            <a:pPr indent="0" marL="0">
              <a:buNone/>
            </a:pPr>
            <a:r>
              <a:rPr lang="en-US" sz="1200" dirty="0">
                <a:solidFill>
                  <a:srgbClr val="111827"/>
                </a:solidFill>
                <a:latin typeface="Calibri" pitchFamily="34" charset="0"/>
                <a:ea typeface="Calibri" pitchFamily="34" charset="-122"/>
                <a:cs typeface="Calibri" pitchFamily="34" charset="-120"/>
              </a:rPr>
              <a:t>Phone - right</a:t>
            </a:r>
            <a:endParaRPr lang="en-US" sz="1200" dirty="0"/>
          </a:p>
        </p:txBody>
      </p:sp>
      <p:sp>
        <p:nvSpPr>
          <p:cNvPr id="10" name="class-chip-3"/>
          <p:cNvSpPr/>
          <p:nvPr/>
        </p:nvSpPr>
        <p:spPr>
          <a:xfrm>
            <a:off x="6629400" y="1655064"/>
            <a:ext cx="2011680" cy="420624"/>
          </a:xfrm>
          <a:prstGeom prst="roundRect">
            <a:avLst>
              <a:gd name="adj" fmla="val 17391"/>
            </a:avLst>
          </a:prstGeom>
          <a:solidFill>
            <a:srgbClr val="F1F5F9"/>
          </a:solidFill>
          <a:ln w="12700">
            <a:solidFill>
              <a:srgbClr val="F1F5F9"/>
            </a:solidFill>
            <a:prstDash val="solid"/>
          </a:ln>
        </p:spPr>
      </p:sp>
      <p:sp>
        <p:nvSpPr>
          <p:cNvPr id="11" name="Text 9"/>
          <p:cNvSpPr txBox="1"/>
          <p:nvPr/>
        </p:nvSpPr>
        <p:spPr>
          <a:xfrm>
            <a:off x="6739128" y="1655064"/>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c3  </a:t>
            </a:r>
            <a:pPr indent="0" marL="0">
              <a:buNone/>
            </a:pPr>
            <a:r>
              <a:rPr lang="en-US" sz="1200" dirty="0">
                <a:solidFill>
                  <a:srgbClr val="111827"/>
                </a:solidFill>
                <a:latin typeface="Calibri" pitchFamily="34" charset="0"/>
                <a:ea typeface="Calibri" pitchFamily="34" charset="-122"/>
                <a:cs typeface="Calibri" pitchFamily="34" charset="-120"/>
              </a:rPr>
              <a:t>Texting - left</a:t>
            </a:r>
            <a:endParaRPr lang="en-US" sz="1200" dirty="0"/>
          </a:p>
        </p:txBody>
      </p:sp>
      <p:sp>
        <p:nvSpPr>
          <p:cNvPr id="12" name="class-chip-4"/>
          <p:cNvSpPr/>
          <p:nvPr/>
        </p:nvSpPr>
        <p:spPr>
          <a:xfrm>
            <a:off x="4526280" y="2167128"/>
            <a:ext cx="2011680" cy="420624"/>
          </a:xfrm>
          <a:prstGeom prst="roundRect">
            <a:avLst>
              <a:gd name="adj" fmla="val 17391"/>
            </a:avLst>
          </a:prstGeom>
          <a:solidFill>
            <a:srgbClr val="F1F5F9"/>
          </a:solidFill>
          <a:ln w="12700">
            <a:solidFill>
              <a:srgbClr val="F1F5F9"/>
            </a:solidFill>
            <a:prstDash val="solid"/>
          </a:ln>
        </p:spPr>
      </p:sp>
      <p:sp>
        <p:nvSpPr>
          <p:cNvPr id="13" name="Text 11"/>
          <p:cNvSpPr txBox="1"/>
          <p:nvPr/>
        </p:nvSpPr>
        <p:spPr>
          <a:xfrm>
            <a:off x="4636008" y="2167128"/>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c4  </a:t>
            </a:r>
            <a:pPr indent="0" marL="0">
              <a:buNone/>
            </a:pPr>
            <a:r>
              <a:rPr lang="en-US" sz="1200" dirty="0">
                <a:solidFill>
                  <a:srgbClr val="111827"/>
                </a:solidFill>
                <a:latin typeface="Calibri" pitchFamily="34" charset="0"/>
                <a:ea typeface="Calibri" pitchFamily="34" charset="-122"/>
                <a:cs typeface="Calibri" pitchFamily="34" charset="-120"/>
              </a:rPr>
              <a:t>Phone - left</a:t>
            </a:r>
            <a:endParaRPr lang="en-US" sz="1200" dirty="0"/>
          </a:p>
        </p:txBody>
      </p:sp>
      <p:sp>
        <p:nvSpPr>
          <p:cNvPr id="14" name="class-chip-5"/>
          <p:cNvSpPr/>
          <p:nvPr/>
        </p:nvSpPr>
        <p:spPr>
          <a:xfrm>
            <a:off x="6629400" y="2167128"/>
            <a:ext cx="2011680" cy="420624"/>
          </a:xfrm>
          <a:prstGeom prst="roundRect">
            <a:avLst>
              <a:gd name="adj" fmla="val 17391"/>
            </a:avLst>
          </a:prstGeom>
          <a:solidFill>
            <a:srgbClr val="F1F5F9"/>
          </a:solidFill>
          <a:ln w="12700">
            <a:solidFill>
              <a:srgbClr val="F1F5F9"/>
            </a:solidFill>
            <a:prstDash val="solid"/>
          </a:ln>
        </p:spPr>
      </p:sp>
      <p:sp>
        <p:nvSpPr>
          <p:cNvPr id="15" name="Text 13"/>
          <p:cNvSpPr txBox="1"/>
          <p:nvPr/>
        </p:nvSpPr>
        <p:spPr>
          <a:xfrm>
            <a:off x="6739128" y="2167128"/>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c5  </a:t>
            </a:r>
            <a:pPr indent="0" marL="0">
              <a:buNone/>
            </a:pPr>
            <a:r>
              <a:rPr lang="en-US" sz="1200" dirty="0">
                <a:solidFill>
                  <a:srgbClr val="111827"/>
                </a:solidFill>
                <a:latin typeface="Calibri" pitchFamily="34" charset="0"/>
                <a:ea typeface="Calibri" pitchFamily="34" charset="-122"/>
                <a:cs typeface="Calibri" pitchFamily="34" charset="-120"/>
              </a:rPr>
              <a:t>Operating radio</a:t>
            </a:r>
            <a:endParaRPr lang="en-US" sz="1200" dirty="0"/>
          </a:p>
        </p:txBody>
      </p:sp>
      <p:sp>
        <p:nvSpPr>
          <p:cNvPr id="16" name="class-chip-6"/>
          <p:cNvSpPr/>
          <p:nvPr/>
        </p:nvSpPr>
        <p:spPr>
          <a:xfrm>
            <a:off x="4526280" y="2679192"/>
            <a:ext cx="2011680" cy="420624"/>
          </a:xfrm>
          <a:prstGeom prst="roundRect">
            <a:avLst>
              <a:gd name="adj" fmla="val 17391"/>
            </a:avLst>
          </a:prstGeom>
          <a:solidFill>
            <a:srgbClr val="F1F5F9"/>
          </a:solidFill>
          <a:ln w="12700">
            <a:solidFill>
              <a:srgbClr val="F1F5F9"/>
            </a:solidFill>
            <a:prstDash val="solid"/>
          </a:ln>
        </p:spPr>
      </p:sp>
      <p:sp>
        <p:nvSpPr>
          <p:cNvPr id="17" name="Text 15"/>
          <p:cNvSpPr txBox="1"/>
          <p:nvPr/>
        </p:nvSpPr>
        <p:spPr>
          <a:xfrm>
            <a:off x="4636008" y="2679192"/>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c6  </a:t>
            </a:r>
            <a:pPr indent="0" marL="0">
              <a:buNone/>
            </a:pPr>
            <a:r>
              <a:rPr lang="en-US" sz="1200" dirty="0">
                <a:solidFill>
                  <a:srgbClr val="111827"/>
                </a:solidFill>
                <a:latin typeface="Calibri" pitchFamily="34" charset="0"/>
                <a:ea typeface="Calibri" pitchFamily="34" charset="-122"/>
                <a:cs typeface="Calibri" pitchFamily="34" charset="-120"/>
              </a:rPr>
              <a:t>Drinking</a:t>
            </a:r>
            <a:endParaRPr lang="en-US" sz="1200" dirty="0"/>
          </a:p>
        </p:txBody>
      </p:sp>
      <p:sp>
        <p:nvSpPr>
          <p:cNvPr id="18" name="class-chip-7"/>
          <p:cNvSpPr/>
          <p:nvPr/>
        </p:nvSpPr>
        <p:spPr>
          <a:xfrm>
            <a:off x="6629400" y="2679192"/>
            <a:ext cx="2011680" cy="420624"/>
          </a:xfrm>
          <a:prstGeom prst="roundRect">
            <a:avLst>
              <a:gd name="adj" fmla="val 17391"/>
            </a:avLst>
          </a:prstGeom>
          <a:solidFill>
            <a:srgbClr val="F1F5F9"/>
          </a:solidFill>
          <a:ln w="12700">
            <a:solidFill>
              <a:srgbClr val="F1F5F9"/>
            </a:solidFill>
            <a:prstDash val="solid"/>
          </a:ln>
        </p:spPr>
      </p:sp>
      <p:sp>
        <p:nvSpPr>
          <p:cNvPr id="19" name="Text 17"/>
          <p:cNvSpPr txBox="1"/>
          <p:nvPr/>
        </p:nvSpPr>
        <p:spPr>
          <a:xfrm>
            <a:off x="6739128" y="2679192"/>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c7  </a:t>
            </a:r>
            <a:pPr indent="0" marL="0">
              <a:buNone/>
            </a:pPr>
            <a:r>
              <a:rPr lang="en-US" sz="1200" dirty="0">
                <a:solidFill>
                  <a:srgbClr val="111827"/>
                </a:solidFill>
                <a:latin typeface="Calibri" pitchFamily="34" charset="0"/>
                <a:ea typeface="Calibri" pitchFamily="34" charset="-122"/>
                <a:cs typeface="Calibri" pitchFamily="34" charset="-120"/>
              </a:rPr>
              <a:t>Reaching behind</a:t>
            </a:r>
            <a:endParaRPr lang="en-US" sz="1200" dirty="0"/>
          </a:p>
        </p:txBody>
      </p:sp>
      <p:sp>
        <p:nvSpPr>
          <p:cNvPr id="20" name="class-chip-8"/>
          <p:cNvSpPr/>
          <p:nvPr/>
        </p:nvSpPr>
        <p:spPr>
          <a:xfrm>
            <a:off x="4526280" y="3191256"/>
            <a:ext cx="2011680" cy="420624"/>
          </a:xfrm>
          <a:prstGeom prst="roundRect">
            <a:avLst>
              <a:gd name="adj" fmla="val 17391"/>
            </a:avLst>
          </a:prstGeom>
          <a:solidFill>
            <a:srgbClr val="F1F5F9"/>
          </a:solidFill>
          <a:ln w="12700">
            <a:solidFill>
              <a:srgbClr val="F1F5F9"/>
            </a:solidFill>
            <a:prstDash val="solid"/>
          </a:ln>
        </p:spPr>
      </p:sp>
      <p:sp>
        <p:nvSpPr>
          <p:cNvPr id="21" name="Text 19"/>
          <p:cNvSpPr txBox="1"/>
          <p:nvPr/>
        </p:nvSpPr>
        <p:spPr>
          <a:xfrm>
            <a:off x="4636008" y="3191256"/>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c8  </a:t>
            </a:r>
            <a:pPr indent="0" marL="0">
              <a:buNone/>
            </a:pPr>
            <a:r>
              <a:rPr lang="en-US" sz="1200" dirty="0">
                <a:solidFill>
                  <a:srgbClr val="111827"/>
                </a:solidFill>
                <a:latin typeface="Calibri" pitchFamily="34" charset="0"/>
                <a:ea typeface="Calibri" pitchFamily="34" charset="-122"/>
                <a:cs typeface="Calibri" pitchFamily="34" charset="-120"/>
              </a:rPr>
              <a:t>Hair and makeup</a:t>
            </a:r>
            <a:endParaRPr lang="en-US" sz="1200" dirty="0"/>
          </a:p>
        </p:txBody>
      </p:sp>
      <p:sp>
        <p:nvSpPr>
          <p:cNvPr id="22" name="class-chip-9"/>
          <p:cNvSpPr/>
          <p:nvPr/>
        </p:nvSpPr>
        <p:spPr>
          <a:xfrm>
            <a:off x="6629400" y="3191256"/>
            <a:ext cx="2011680" cy="420624"/>
          </a:xfrm>
          <a:prstGeom prst="roundRect">
            <a:avLst>
              <a:gd name="adj" fmla="val 17391"/>
            </a:avLst>
          </a:prstGeom>
          <a:solidFill>
            <a:srgbClr val="F1F5F9"/>
          </a:solidFill>
          <a:ln w="12700">
            <a:solidFill>
              <a:srgbClr val="F1F5F9"/>
            </a:solidFill>
            <a:prstDash val="solid"/>
          </a:ln>
        </p:spPr>
      </p:sp>
      <p:sp>
        <p:nvSpPr>
          <p:cNvPr id="23" name="Text 21"/>
          <p:cNvSpPr txBox="1"/>
          <p:nvPr/>
        </p:nvSpPr>
        <p:spPr>
          <a:xfrm>
            <a:off x="6739128" y="3191256"/>
            <a:ext cx="1828800" cy="420624"/>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c9  </a:t>
            </a:r>
            <a:pPr indent="0" marL="0">
              <a:buNone/>
            </a:pPr>
            <a:r>
              <a:rPr lang="en-US" sz="1200" dirty="0">
                <a:solidFill>
                  <a:srgbClr val="111827"/>
                </a:solidFill>
                <a:latin typeface="Calibri" pitchFamily="34" charset="0"/>
                <a:ea typeface="Calibri" pitchFamily="34" charset="-122"/>
                <a:cs typeface="Calibri" pitchFamily="34" charset="-120"/>
              </a:rPr>
              <a:t>Talk to passenger</a:t>
            </a:r>
            <a:endParaRPr lang="en-US" sz="1200" dirty="0"/>
          </a:p>
        </p:txBody>
      </p:sp>
      <p:sp>
        <p:nvSpPr>
          <p:cNvPr id="24" name="question-card"/>
          <p:cNvSpPr/>
          <p:nvPr/>
        </p:nvSpPr>
        <p:spPr>
          <a:xfrm>
            <a:off x="457200" y="3840480"/>
            <a:ext cx="8229600" cy="777240"/>
          </a:xfrm>
          <a:prstGeom prst="roundRect">
            <a:avLst>
              <a:gd name="adj" fmla="val 9412"/>
            </a:avLst>
          </a:prstGeom>
          <a:solidFill>
            <a:srgbClr val="111827"/>
          </a:solidFill>
          <a:ln w="12700">
            <a:solidFill>
              <a:srgbClr val="111827"/>
            </a:solidFill>
            <a:prstDash val="solid"/>
          </a:ln>
        </p:spPr>
      </p:sp>
      <p:sp>
        <p:nvSpPr>
          <p:cNvPr id="25" name="Text 23"/>
          <p:cNvSpPr txBox="1"/>
          <p:nvPr/>
        </p:nvSpPr>
        <p:spPr>
          <a:xfrm>
            <a:off x="685800" y="3840480"/>
            <a:ext cx="7772400" cy="7772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Our question:  </a:t>
            </a:r>
            <a:pPr indent="0" marL="0">
              <a:buNone/>
            </a:pPr>
            <a:r>
              <a:rPr lang="en-US" sz="1500" dirty="0">
                <a:solidFill>
                  <a:srgbClr val="FFFFFF"/>
                </a:solidFill>
                <a:latin typeface="Calibri" pitchFamily="34" charset="0"/>
                <a:ea typeface="Calibri" pitchFamily="34" charset="-122"/>
                <a:cs typeface="Calibri" pitchFamily="34" charset="-120"/>
              </a:rPr>
              <a:t>how well do simple models work on raw pixels, and does that accuracy hold for drivers the model has never seen?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State Farm data, and two ways to split it</a:t>
            </a:r>
            <a:endParaRPr lang="en-US" sz="2800" dirty="0"/>
          </a:p>
        </p:txBody>
      </p:sp>
      <p:sp>
        <p:nvSpPr>
          <p:cNvPr id="3" name="stat-0"/>
          <p:cNvSpPr/>
          <p:nvPr/>
        </p:nvSpPr>
        <p:spPr>
          <a:xfrm>
            <a:off x="457200" y="1097280"/>
            <a:ext cx="1920240" cy="868680"/>
          </a:xfrm>
          <a:prstGeom prst="roundRect">
            <a:avLst>
              <a:gd name="adj" fmla="val 8421"/>
            </a:avLst>
          </a:prstGeom>
          <a:solidFill>
            <a:srgbClr val="F1F5F9"/>
          </a:solidFill>
          <a:ln w="12700">
            <a:solidFill>
              <a:srgbClr val="F1F5F9"/>
            </a:solidFill>
            <a:prstDash val="solid"/>
          </a:ln>
        </p:spPr>
      </p:sp>
      <p:sp>
        <p:nvSpPr>
          <p:cNvPr id="4" name="Text 2"/>
          <p:cNvSpPr txBox="1"/>
          <p:nvPr/>
        </p:nvSpPr>
        <p:spPr>
          <a:xfrm>
            <a:off x="457200"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22,424</a:t>
            </a:r>
            <a:endParaRPr lang="en-US" sz="2600" dirty="0"/>
          </a:p>
        </p:txBody>
      </p:sp>
      <p:sp>
        <p:nvSpPr>
          <p:cNvPr id="5" name="Text 3"/>
          <p:cNvSpPr txBox="1"/>
          <p:nvPr/>
        </p:nvSpPr>
        <p:spPr>
          <a:xfrm>
            <a:off x="457200"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labelled images</a:t>
            </a:r>
            <a:endParaRPr lang="en-US" sz="1200" dirty="0"/>
          </a:p>
        </p:txBody>
      </p:sp>
      <p:sp>
        <p:nvSpPr>
          <p:cNvPr id="6" name="stat-1"/>
          <p:cNvSpPr/>
          <p:nvPr/>
        </p:nvSpPr>
        <p:spPr>
          <a:xfrm>
            <a:off x="2542032" y="1097280"/>
            <a:ext cx="1920240" cy="868680"/>
          </a:xfrm>
          <a:prstGeom prst="roundRect">
            <a:avLst>
              <a:gd name="adj" fmla="val 8421"/>
            </a:avLst>
          </a:prstGeom>
          <a:solidFill>
            <a:srgbClr val="F1F5F9"/>
          </a:solidFill>
          <a:ln w="12700">
            <a:solidFill>
              <a:srgbClr val="F1F5F9"/>
            </a:solidFill>
            <a:prstDash val="solid"/>
          </a:ln>
        </p:spPr>
      </p:sp>
      <p:sp>
        <p:nvSpPr>
          <p:cNvPr id="7" name="Text 5"/>
          <p:cNvSpPr txBox="1"/>
          <p:nvPr/>
        </p:nvSpPr>
        <p:spPr>
          <a:xfrm>
            <a:off x="2542032"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10</a:t>
            </a:r>
            <a:endParaRPr lang="en-US" sz="2600" dirty="0"/>
          </a:p>
        </p:txBody>
      </p:sp>
      <p:sp>
        <p:nvSpPr>
          <p:cNvPr id="8" name="Text 6"/>
          <p:cNvSpPr txBox="1"/>
          <p:nvPr/>
        </p:nvSpPr>
        <p:spPr>
          <a:xfrm>
            <a:off x="2542032"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classes</a:t>
            </a:r>
            <a:endParaRPr lang="en-US" sz="1200" dirty="0"/>
          </a:p>
        </p:txBody>
      </p:sp>
      <p:sp>
        <p:nvSpPr>
          <p:cNvPr id="9" name="stat-2"/>
          <p:cNvSpPr/>
          <p:nvPr/>
        </p:nvSpPr>
        <p:spPr>
          <a:xfrm>
            <a:off x="4626864" y="1097280"/>
            <a:ext cx="1920240" cy="868680"/>
          </a:xfrm>
          <a:prstGeom prst="roundRect">
            <a:avLst>
              <a:gd name="adj" fmla="val 8421"/>
            </a:avLst>
          </a:prstGeom>
          <a:solidFill>
            <a:srgbClr val="F1F5F9"/>
          </a:solidFill>
          <a:ln w="12700">
            <a:solidFill>
              <a:srgbClr val="F1F5F9"/>
            </a:solidFill>
            <a:prstDash val="solid"/>
          </a:ln>
        </p:spPr>
      </p:sp>
      <p:sp>
        <p:nvSpPr>
          <p:cNvPr id="10" name="Text 8"/>
          <p:cNvSpPr txBox="1"/>
          <p:nvPr/>
        </p:nvSpPr>
        <p:spPr>
          <a:xfrm>
            <a:off x="4626864"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26</a:t>
            </a:r>
            <a:endParaRPr lang="en-US" sz="2600" dirty="0"/>
          </a:p>
        </p:txBody>
      </p:sp>
      <p:sp>
        <p:nvSpPr>
          <p:cNvPr id="11" name="Text 9"/>
          <p:cNvSpPr txBox="1"/>
          <p:nvPr/>
        </p:nvSpPr>
        <p:spPr>
          <a:xfrm>
            <a:off x="4626864"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drivers</a:t>
            </a:r>
            <a:endParaRPr lang="en-US" sz="1200" dirty="0"/>
          </a:p>
        </p:txBody>
      </p:sp>
      <p:sp>
        <p:nvSpPr>
          <p:cNvPr id="12" name="stat-3"/>
          <p:cNvSpPr/>
          <p:nvPr/>
        </p:nvSpPr>
        <p:spPr>
          <a:xfrm>
            <a:off x="6711696" y="1097280"/>
            <a:ext cx="1920240" cy="868680"/>
          </a:xfrm>
          <a:prstGeom prst="roundRect">
            <a:avLst>
              <a:gd name="adj" fmla="val 8421"/>
            </a:avLst>
          </a:prstGeom>
          <a:solidFill>
            <a:srgbClr val="F1F5F9"/>
          </a:solidFill>
          <a:ln w="12700">
            <a:solidFill>
              <a:srgbClr val="F1F5F9"/>
            </a:solidFill>
            <a:prstDash val="solid"/>
          </a:ln>
        </p:spPr>
      </p:sp>
      <p:sp>
        <p:nvSpPr>
          <p:cNvPr id="13" name="Text 11"/>
          <p:cNvSpPr txBox="1"/>
          <p:nvPr/>
        </p:nvSpPr>
        <p:spPr>
          <a:xfrm>
            <a:off x="6711696" y="1143000"/>
            <a:ext cx="1920240" cy="457200"/>
          </a:xfrm>
          <a:prstGeom prst="rect">
            <a:avLst/>
          </a:prstGeom>
          <a:noFill/>
          <a:ln/>
        </p:spPr>
        <p:txBody>
          <a:bodyPr wrap="square" lIns="0" tIns="0" rIns="0" bIns="0" rtlCol="0" anchor="ctr"/>
          <a:lstStyle/>
          <a:p>
            <a:pPr algn="ctr" indent="0" marL="0">
              <a:buNone/>
            </a:pPr>
            <a:r>
              <a:rPr lang="en-US" sz="2600" b="1" dirty="0">
                <a:solidFill>
                  <a:srgbClr val="0D9488"/>
                </a:solidFill>
                <a:latin typeface="Cambria" pitchFamily="34" charset="0"/>
                <a:ea typeface="Cambria" pitchFamily="34" charset="-122"/>
                <a:cs typeface="Cambria" pitchFamily="34" charset="-120"/>
              </a:rPr>
              <a:t>640x480</a:t>
            </a:r>
            <a:endParaRPr lang="en-US" sz="2600" dirty="0"/>
          </a:p>
        </p:txBody>
      </p:sp>
      <p:sp>
        <p:nvSpPr>
          <p:cNvPr id="14" name="Text 12"/>
          <p:cNvSpPr txBox="1"/>
          <p:nvPr/>
        </p:nvSpPr>
        <p:spPr>
          <a:xfrm>
            <a:off x="6711696" y="1600200"/>
            <a:ext cx="1920240" cy="2743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RGB frames</a:t>
            </a:r>
            <a:endParaRPr lang="en-US" sz="1200" dirty="0"/>
          </a:p>
        </p:txBody>
      </p:sp>
      <p:sp>
        <p:nvSpPr>
          <p:cNvPr id="15" name="random-card"/>
          <p:cNvSpPr/>
          <p:nvPr/>
        </p:nvSpPr>
        <p:spPr>
          <a:xfrm>
            <a:off x="457200" y="2194560"/>
            <a:ext cx="4023360" cy="2011680"/>
          </a:xfrm>
          <a:prstGeom prst="roundRect">
            <a:avLst>
              <a:gd name="adj" fmla="val 3636"/>
            </a:avLst>
          </a:prstGeom>
          <a:solidFill>
            <a:srgbClr val="F1F5F9"/>
          </a:solidFill>
          <a:ln w="12700">
            <a:solidFill>
              <a:srgbClr val="F1F5F9"/>
            </a:solidFill>
            <a:prstDash val="solid"/>
          </a:ln>
        </p:spPr>
      </p:sp>
      <p:sp>
        <p:nvSpPr>
          <p:cNvPr id="16" name="Text 14"/>
          <p:cNvSpPr txBox="1"/>
          <p:nvPr/>
        </p:nvSpPr>
        <p:spPr>
          <a:xfrm>
            <a:off x="640080" y="2286000"/>
            <a:ext cx="3657600" cy="32004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A  Random 80/20 split</a:t>
            </a:r>
            <a:endParaRPr lang="en-US" sz="1600" dirty="0"/>
          </a:p>
        </p:txBody>
      </p:sp>
      <p:sp>
        <p:nvSpPr>
          <p:cNvPr id="17" name="Text 15"/>
          <p:cNvSpPr txBox="1"/>
          <p:nvPr/>
        </p:nvSpPr>
        <p:spPr>
          <a:xfrm>
            <a:off x="640080" y="2651760"/>
            <a:ext cx="36576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Same protocol as the reference report</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17,940 train / 4,484 val</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All 26 drivers appear on both sides</a:t>
            </a:r>
            <a:endParaRPr lang="en-US" sz="1300" dirty="0"/>
          </a:p>
          <a:p>
            <a:pPr marL="342900" indent="-342900">
              <a:spcAft>
                <a:spcPts val="400"/>
              </a:spcAft>
              <a:buSzPct val="100000"/>
              <a:buChar char="•"/>
            </a:pPr>
            <a:r>
              <a:rPr lang="en-US" sz="1300" b="1" dirty="0">
                <a:solidFill>
                  <a:srgbClr val="111827"/>
                </a:solidFill>
                <a:latin typeface="Calibri" pitchFamily="34" charset="0"/>
                <a:ea typeface="Calibri" pitchFamily="34" charset="-122"/>
                <a:cs typeface="Calibri" pitchFamily="34" charset="-120"/>
              </a:rPr>
              <a:t>Almost-identical frames of one driver on both sides: may be optimistic</a:t>
            </a:r>
            <a:endParaRPr lang="en-US" sz="1300" dirty="0"/>
          </a:p>
        </p:txBody>
      </p:sp>
      <p:sp>
        <p:nvSpPr>
          <p:cNvPr id="18" name="driver-card"/>
          <p:cNvSpPr/>
          <p:nvPr/>
        </p:nvSpPr>
        <p:spPr>
          <a:xfrm>
            <a:off x="4663440" y="2194560"/>
            <a:ext cx="4023360" cy="2011680"/>
          </a:xfrm>
          <a:prstGeom prst="roundRect">
            <a:avLst>
              <a:gd name="adj" fmla="val 3636"/>
            </a:avLst>
          </a:prstGeom>
          <a:solidFill>
            <a:srgbClr val="F1F5F9"/>
          </a:solidFill>
          <a:ln w="12700">
            <a:solidFill>
              <a:srgbClr val="F1F5F9"/>
            </a:solidFill>
            <a:prstDash val="solid"/>
          </a:ln>
        </p:spPr>
      </p:sp>
      <p:sp>
        <p:nvSpPr>
          <p:cNvPr id="19" name="Text 17"/>
          <p:cNvSpPr txBox="1"/>
          <p:nvPr/>
        </p:nvSpPr>
        <p:spPr>
          <a:xfrm>
            <a:off x="4846320" y="2286000"/>
            <a:ext cx="3657600" cy="32004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B  Driver-wise 80/20 split</a:t>
            </a:r>
            <a:endParaRPr lang="en-US" sz="1600" dirty="0"/>
          </a:p>
        </p:txBody>
      </p:sp>
      <p:sp>
        <p:nvSpPr>
          <p:cNvPr id="20" name="Text 18"/>
          <p:cNvSpPr txBox="1"/>
          <p:nvPr/>
        </p:nvSpPr>
        <p:spPr>
          <a:xfrm>
            <a:off x="4846320" y="2651760"/>
            <a:ext cx="36576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Whole drivers held out for validation</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17,747 train / 4,677 val</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21 train drivers, 5 val drivers, 0 overlap</a:t>
            </a:r>
            <a:endParaRPr lang="en-US" sz="1300" dirty="0"/>
          </a:p>
          <a:p>
            <a:pPr marL="342900" indent="-342900">
              <a:spcAft>
                <a:spcPts val="400"/>
              </a:spcAft>
              <a:buSzPct val="100000"/>
              <a:buChar char="•"/>
            </a:pPr>
            <a:r>
              <a:rPr lang="en-US" sz="1300" b="1" dirty="0">
                <a:solidFill>
                  <a:srgbClr val="111827"/>
                </a:solidFill>
                <a:latin typeface="Calibri" pitchFamily="34" charset="0"/>
                <a:ea typeface="Calibri" pitchFamily="34" charset="-122"/>
                <a:cs typeface="Calibri" pitchFamily="34" charset="-120"/>
              </a:rPr>
              <a:t>Measures real-world generalisation to new people</a:t>
            </a:r>
            <a:endParaRPr lang="en-US" sz="1300" dirty="0"/>
          </a:p>
        </p:txBody>
      </p:sp>
      <p:sp>
        <p:nvSpPr>
          <p:cNvPr id="21" name="Text 19"/>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Why two? Images are video frames, so one driver's frames look almost identical. The official test set is unlabelled, so we hold out 20% of the labelled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Pre-processing: shrink, flatten, centre</a:t>
            </a:r>
            <a:endParaRPr lang="en-US" sz="2800" dirty="0"/>
          </a:p>
        </p:txBody>
      </p:sp>
      <p:sp>
        <p:nvSpPr>
          <p:cNvPr id="3" name="pipe-0"/>
          <p:cNvSpPr/>
          <p:nvPr/>
        </p:nvSpPr>
        <p:spPr>
          <a:xfrm>
            <a:off x="457200"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457200"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Image</a:t>
            </a:r>
            <a:endParaRPr lang="en-US" sz="1600" dirty="0"/>
          </a:p>
        </p:txBody>
      </p:sp>
      <p:sp>
        <p:nvSpPr>
          <p:cNvPr id="5" name="Text 3"/>
          <p:cNvSpPr txBox="1"/>
          <p:nvPr/>
        </p:nvSpPr>
        <p:spPr>
          <a:xfrm>
            <a:off x="502920"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Full photo</a:t>
            </a:r>
            <a:endParaRPr lang="en-US" sz="1300" dirty="0"/>
          </a:p>
        </p:txBody>
      </p:sp>
      <p:sp>
        <p:nvSpPr>
          <p:cNvPr id="6" name="Text 4"/>
          <p:cNvSpPr txBox="1"/>
          <p:nvPr/>
        </p:nvSpPr>
        <p:spPr>
          <a:xfrm>
            <a:off x="502920"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large colour image</a:t>
            </a:r>
            <a:endParaRPr lang="en-US" sz="1100" dirty="0"/>
          </a:p>
        </p:txBody>
      </p:sp>
      <p:sp>
        <p:nvSpPr>
          <p:cNvPr id="7" name="Text 5"/>
          <p:cNvSpPr txBox="1"/>
          <p:nvPr/>
        </p:nvSpPr>
        <p:spPr>
          <a:xfrm>
            <a:off x="1920240"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8" name="pipe-1"/>
          <p:cNvSpPr/>
          <p:nvPr/>
        </p:nvSpPr>
        <p:spPr>
          <a:xfrm>
            <a:off x="2139696" y="1188720"/>
            <a:ext cx="1463040" cy="1417320"/>
          </a:xfrm>
          <a:prstGeom prst="roundRect">
            <a:avLst>
              <a:gd name="adj" fmla="val 5161"/>
            </a:avLst>
          </a:prstGeom>
          <a:solidFill>
            <a:srgbClr val="0D9488"/>
          </a:solidFill>
          <a:ln w="12700">
            <a:solidFill>
              <a:srgbClr val="0D9488"/>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2139696" y="1280160"/>
            <a:ext cx="146304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Resize</a:t>
            </a:r>
            <a:endParaRPr lang="en-US" sz="1600" dirty="0"/>
          </a:p>
        </p:txBody>
      </p:sp>
      <p:sp>
        <p:nvSpPr>
          <p:cNvPr id="10" name="Text 8"/>
          <p:cNvSpPr txBox="1"/>
          <p:nvPr/>
        </p:nvSpPr>
        <p:spPr>
          <a:xfrm>
            <a:off x="2185416" y="1645920"/>
            <a:ext cx="13716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Shrink it</a:t>
            </a:r>
            <a:endParaRPr lang="en-US" sz="1300" dirty="0"/>
          </a:p>
        </p:txBody>
      </p:sp>
      <p:sp>
        <p:nvSpPr>
          <p:cNvPr id="11" name="Text 9"/>
          <p:cNvSpPr txBox="1"/>
          <p:nvPr/>
        </p:nvSpPr>
        <p:spPr>
          <a:xfrm>
            <a:off x="2185416" y="2103120"/>
            <a:ext cx="1371600" cy="411480"/>
          </a:xfrm>
          <a:prstGeom prst="rect">
            <a:avLst/>
          </a:prstGeom>
          <a:noFill/>
          <a:ln/>
        </p:spPr>
        <p:txBody>
          <a:bodyPr wrap="square" lIns="0" tIns="0" rIns="0" bIns="0" rtlCol="0" anchor="t"/>
          <a:lstStyle/>
          <a:p>
            <a:pPr algn="ctr" indent="0" marL="0">
              <a:buNone/>
            </a:pPr>
            <a:r>
              <a:rPr lang="en-US" sz="1100" dirty="0">
                <a:solidFill>
                  <a:srgbClr val="E6FFFA"/>
                </a:solidFill>
                <a:latin typeface="Calibri" pitchFamily="34" charset="0"/>
                <a:ea typeface="Calibri" pitchFamily="34" charset="-122"/>
                <a:cs typeface="Calibri" pitchFamily="34" charset="-120"/>
              </a:rPr>
              <a:t>64x64 pixels</a:t>
            </a:r>
            <a:endParaRPr lang="en-US" sz="1100" dirty="0"/>
          </a:p>
        </p:txBody>
      </p:sp>
      <p:sp>
        <p:nvSpPr>
          <p:cNvPr id="12" name="Text 10"/>
          <p:cNvSpPr txBox="1"/>
          <p:nvPr/>
        </p:nvSpPr>
        <p:spPr>
          <a:xfrm>
            <a:off x="3602736"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13" name="pipe-2"/>
          <p:cNvSpPr/>
          <p:nvPr/>
        </p:nvSpPr>
        <p:spPr>
          <a:xfrm>
            <a:off x="3822192"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3822192"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Flatten</a:t>
            </a:r>
            <a:endParaRPr lang="en-US" sz="1600" dirty="0"/>
          </a:p>
        </p:txBody>
      </p:sp>
      <p:sp>
        <p:nvSpPr>
          <p:cNvPr id="15" name="Text 13"/>
          <p:cNvSpPr txBox="1"/>
          <p:nvPr/>
        </p:nvSpPr>
        <p:spPr>
          <a:xfrm>
            <a:off x="3867912"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One list</a:t>
            </a:r>
            <a:endParaRPr lang="en-US" sz="1300" dirty="0"/>
          </a:p>
        </p:txBody>
      </p:sp>
      <p:sp>
        <p:nvSpPr>
          <p:cNvPr id="16" name="Text 14"/>
          <p:cNvSpPr txBox="1"/>
          <p:nvPr/>
        </p:nvSpPr>
        <p:spPr>
          <a:xfrm>
            <a:off x="3867912"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pixels in a row</a:t>
            </a:r>
            <a:endParaRPr lang="en-US" sz="1100" dirty="0"/>
          </a:p>
        </p:txBody>
      </p:sp>
      <p:sp>
        <p:nvSpPr>
          <p:cNvPr id="17" name="Text 15"/>
          <p:cNvSpPr txBox="1"/>
          <p:nvPr/>
        </p:nvSpPr>
        <p:spPr>
          <a:xfrm>
            <a:off x="5285232"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18" name="pipe-3"/>
          <p:cNvSpPr/>
          <p:nvPr/>
        </p:nvSpPr>
        <p:spPr>
          <a:xfrm>
            <a:off x="5504688" y="1188720"/>
            <a:ext cx="1463040" cy="1417320"/>
          </a:xfrm>
          <a:prstGeom prst="roundRect">
            <a:avLst>
              <a:gd name="adj" fmla="val 5161"/>
            </a:avLst>
          </a:prstGeom>
          <a:solidFill>
            <a:srgbClr val="0D9488"/>
          </a:solidFill>
          <a:ln w="12700">
            <a:solidFill>
              <a:srgbClr val="0D9488"/>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5504688" y="1280160"/>
            <a:ext cx="146304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Normalise</a:t>
            </a:r>
            <a:endParaRPr lang="en-US" sz="1600" dirty="0"/>
          </a:p>
        </p:txBody>
      </p:sp>
      <p:sp>
        <p:nvSpPr>
          <p:cNvPr id="20" name="Text 18"/>
          <p:cNvSpPr txBox="1"/>
          <p:nvPr/>
        </p:nvSpPr>
        <p:spPr>
          <a:xfrm>
            <a:off x="5550408" y="1645920"/>
            <a:ext cx="13716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Centre colours</a:t>
            </a:r>
            <a:endParaRPr lang="en-US" sz="1300" dirty="0"/>
          </a:p>
        </p:txBody>
      </p:sp>
      <p:sp>
        <p:nvSpPr>
          <p:cNvPr id="21" name="Text 19"/>
          <p:cNvSpPr txBox="1"/>
          <p:nvPr/>
        </p:nvSpPr>
        <p:spPr>
          <a:xfrm>
            <a:off x="5550408" y="2103120"/>
            <a:ext cx="1371600" cy="411480"/>
          </a:xfrm>
          <a:prstGeom prst="rect">
            <a:avLst/>
          </a:prstGeom>
          <a:noFill/>
          <a:ln/>
        </p:spPr>
        <p:txBody>
          <a:bodyPr wrap="square" lIns="0" tIns="0" rIns="0" bIns="0" rtlCol="0" anchor="t"/>
          <a:lstStyle/>
          <a:p>
            <a:pPr algn="ctr" indent="0" marL="0">
              <a:buNone/>
            </a:pPr>
            <a:r>
              <a:rPr lang="en-US" sz="1100" dirty="0">
                <a:solidFill>
                  <a:srgbClr val="E6FFFA"/>
                </a:solidFill>
                <a:latin typeface="Calibri" pitchFamily="34" charset="0"/>
                <a:ea typeface="Calibri" pitchFamily="34" charset="-122"/>
                <a:cs typeface="Calibri" pitchFamily="34" charset="-120"/>
              </a:rPr>
              <a:t>subtract average image</a:t>
            </a:r>
            <a:endParaRPr lang="en-US" sz="1100" dirty="0"/>
          </a:p>
        </p:txBody>
      </p:sp>
      <p:sp>
        <p:nvSpPr>
          <p:cNvPr id="22" name="Text 20"/>
          <p:cNvSpPr txBox="1"/>
          <p:nvPr/>
        </p:nvSpPr>
        <p:spPr>
          <a:xfrm>
            <a:off x="6967728" y="1691640"/>
            <a:ext cx="219456"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&gt;</a:t>
            </a:r>
            <a:endParaRPr lang="en-US" sz="2000" dirty="0"/>
          </a:p>
        </p:txBody>
      </p:sp>
      <p:sp>
        <p:nvSpPr>
          <p:cNvPr id="23" name="pipe-4"/>
          <p:cNvSpPr/>
          <p:nvPr/>
        </p:nvSpPr>
        <p:spPr>
          <a:xfrm>
            <a:off x="7187184" y="1188720"/>
            <a:ext cx="1463040" cy="1417320"/>
          </a:xfrm>
          <a:prstGeom prst="roundRect">
            <a:avLst>
              <a:gd name="adj" fmla="val 5161"/>
            </a:avLst>
          </a:prstGeom>
          <a:solidFill>
            <a:srgbClr val="F1F5F9"/>
          </a:solidFill>
          <a:ln w="12700">
            <a:solidFill>
              <a:srgbClr val="F1F5F9"/>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7187184" y="1280160"/>
            <a:ext cx="1463040" cy="320040"/>
          </a:xfrm>
          <a:prstGeom prst="rect">
            <a:avLst/>
          </a:prstGeom>
          <a:noFill/>
          <a:ln/>
        </p:spPr>
        <p:txBody>
          <a:bodyPr wrap="square" lIns="0" tIns="0" rIns="0" bIns="0" rtlCol="0" anchor="t"/>
          <a:lstStyle/>
          <a:p>
            <a:pPr algn="ctr" indent="0" marL="0">
              <a:buNone/>
            </a:pPr>
            <a:r>
              <a:rPr lang="en-US" sz="1600" b="1" dirty="0">
                <a:solidFill>
                  <a:srgbClr val="111827"/>
                </a:solidFill>
                <a:latin typeface="Cambria" pitchFamily="34" charset="0"/>
                <a:ea typeface="Cambria" pitchFamily="34" charset="-122"/>
                <a:cs typeface="Cambria" pitchFamily="34" charset="-120"/>
              </a:rPr>
              <a:t>Classifier</a:t>
            </a:r>
            <a:endParaRPr lang="en-US" sz="1600" dirty="0"/>
          </a:p>
        </p:txBody>
      </p:sp>
      <p:sp>
        <p:nvSpPr>
          <p:cNvPr id="25" name="Text 23"/>
          <p:cNvSpPr txBox="1"/>
          <p:nvPr/>
        </p:nvSpPr>
        <p:spPr>
          <a:xfrm>
            <a:off x="7232904" y="1645920"/>
            <a:ext cx="1371600" cy="41148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5 models</a:t>
            </a:r>
            <a:endParaRPr lang="en-US" sz="1300" dirty="0"/>
          </a:p>
        </p:txBody>
      </p:sp>
      <p:sp>
        <p:nvSpPr>
          <p:cNvPr id="26" name="Text 24"/>
          <p:cNvSpPr txBox="1"/>
          <p:nvPr/>
        </p:nvSpPr>
        <p:spPr>
          <a:xfrm>
            <a:off x="7232904" y="2103120"/>
            <a:ext cx="1371600" cy="41148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pick 1 of 10 activities</a:t>
            </a:r>
            <a:endParaRPr lang="en-US" sz="1100" dirty="0"/>
          </a:p>
        </p:txBody>
      </p:sp>
      <p:sp>
        <p:nvSpPr>
          <p:cNvPr id="27" name="why-0"/>
          <p:cNvSpPr/>
          <p:nvPr/>
        </p:nvSpPr>
        <p:spPr>
          <a:xfrm>
            <a:off x="457200" y="2926080"/>
            <a:ext cx="2633472" cy="1600200"/>
          </a:xfrm>
          <a:prstGeom prst="roundRect">
            <a:avLst>
              <a:gd name="adj" fmla="val 4571"/>
            </a:avLst>
          </a:prstGeom>
          <a:solidFill>
            <a:srgbClr val="F1F5F9"/>
          </a:solidFill>
          <a:ln w="12700">
            <a:solidFill>
              <a:srgbClr val="F1F5F9"/>
            </a:solidFill>
            <a:prstDash val="solid"/>
          </a:ln>
        </p:spPr>
      </p:sp>
      <p:sp>
        <p:nvSpPr>
          <p:cNvPr id="28" name="Text 26"/>
          <p:cNvSpPr txBox="1"/>
          <p:nvPr/>
        </p:nvSpPr>
        <p:spPr>
          <a:xfrm>
            <a:off x="640080"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75x</a:t>
            </a:r>
            <a:pPr indent="0" marL="0">
              <a:buNone/>
            </a:pPr>
            <a:r>
              <a:rPr lang="en-US" sz="1400" b="1" dirty="0">
                <a:solidFill>
                  <a:srgbClr val="111827"/>
                </a:solidFill>
                <a:latin typeface="Calibri" pitchFamily="34" charset="0"/>
                <a:ea typeface="Calibri" pitchFamily="34" charset="-122"/>
                <a:cs typeface="Calibri" pitchFamily="34" charset="-120"/>
              </a:rPr>
              <a:t>  smaller</a:t>
            </a:r>
            <a:endParaRPr lang="en-US" sz="3000" dirty="0"/>
          </a:p>
        </p:txBody>
      </p:sp>
      <p:sp>
        <p:nvSpPr>
          <p:cNvPr id="29" name="Text 27"/>
          <p:cNvSpPr txBox="1"/>
          <p:nvPr/>
        </p:nvSpPr>
        <p:spPr>
          <a:xfrm>
            <a:off x="640080"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each image becomes 75 times smaller, so models train in minutes instead of hours</a:t>
            </a:r>
            <a:endParaRPr lang="en-US" sz="1200" dirty="0"/>
          </a:p>
        </p:txBody>
      </p:sp>
      <p:sp>
        <p:nvSpPr>
          <p:cNvPr id="30" name="why-1"/>
          <p:cNvSpPr/>
          <p:nvPr/>
        </p:nvSpPr>
        <p:spPr>
          <a:xfrm>
            <a:off x="3255264" y="2926080"/>
            <a:ext cx="2633472" cy="1600200"/>
          </a:xfrm>
          <a:prstGeom prst="roundRect">
            <a:avLst>
              <a:gd name="adj" fmla="val 4571"/>
            </a:avLst>
          </a:prstGeom>
          <a:solidFill>
            <a:srgbClr val="F1F5F9"/>
          </a:solidFill>
          <a:ln w="12700">
            <a:solidFill>
              <a:srgbClr val="F1F5F9"/>
            </a:solidFill>
            <a:prstDash val="solid"/>
          </a:ln>
        </p:spPr>
      </p:sp>
      <p:sp>
        <p:nvSpPr>
          <p:cNvPr id="31" name="Text 29"/>
          <p:cNvSpPr txBox="1"/>
          <p:nvPr/>
        </p:nvSpPr>
        <p:spPr>
          <a:xfrm>
            <a:off x="3438144"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Fair</a:t>
            </a:r>
            <a:pPr indent="0" marL="0">
              <a:buNone/>
            </a:pPr>
            <a:r>
              <a:rPr lang="en-US" sz="1400" b="1" dirty="0">
                <a:solidFill>
                  <a:srgbClr val="111827"/>
                </a:solidFill>
                <a:latin typeface="Calibri" pitchFamily="34" charset="0"/>
                <a:ea typeface="Calibri" pitchFamily="34" charset="-122"/>
                <a:cs typeface="Calibri" pitchFamily="34" charset="-120"/>
              </a:rPr>
              <a:t>  test</a:t>
            </a:r>
            <a:endParaRPr lang="en-US" sz="3000" dirty="0"/>
          </a:p>
        </p:txBody>
      </p:sp>
      <p:sp>
        <p:nvSpPr>
          <p:cNvPr id="32" name="Text 30"/>
          <p:cNvSpPr txBox="1"/>
          <p:nvPr/>
        </p:nvSpPr>
        <p:spPr>
          <a:xfrm>
            <a:off x="3438144"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the average image comes from training data only, so validation images never influence it</a:t>
            </a:r>
            <a:endParaRPr lang="en-US" sz="1200" dirty="0"/>
          </a:p>
        </p:txBody>
      </p:sp>
      <p:sp>
        <p:nvSpPr>
          <p:cNvPr id="33" name="why-2"/>
          <p:cNvSpPr/>
          <p:nvPr/>
        </p:nvSpPr>
        <p:spPr>
          <a:xfrm>
            <a:off x="6053328" y="2926080"/>
            <a:ext cx="2633472" cy="1600200"/>
          </a:xfrm>
          <a:prstGeom prst="roundRect">
            <a:avLst>
              <a:gd name="adj" fmla="val 4571"/>
            </a:avLst>
          </a:prstGeom>
          <a:solidFill>
            <a:srgbClr val="F1F5F9"/>
          </a:solidFill>
          <a:ln w="12700">
            <a:solidFill>
              <a:srgbClr val="F1F5F9"/>
            </a:solidFill>
            <a:prstDash val="solid"/>
          </a:ln>
        </p:spPr>
      </p:sp>
      <p:sp>
        <p:nvSpPr>
          <p:cNvPr id="34" name="Text 32"/>
          <p:cNvSpPr txBox="1"/>
          <p:nvPr/>
        </p:nvSpPr>
        <p:spPr>
          <a:xfrm>
            <a:off x="6236208" y="3017520"/>
            <a:ext cx="2286000" cy="54864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Fast</a:t>
            </a:r>
            <a:pPr indent="0" marL="0">
              <a:buNone/>
            </a:pPr>
            <a:r>
              <a:rPr lang="en-US" sz="1400" b="1" dirty="0">
                <a:solidFill>
                  <a:srgbClr val="111827"/>
                </a:solidFill>
                <a:latin typeface="Calibri" pitchFamily="34" charset="0"/>
                <a:ea typeface="Calibri" pitchFamily="34" charset="-122"/>
                <a:cs typeface="Calibri" pitchFamily="34" charset="-120"/>
              </a:rPr>
              <a:t>  re-runs</a:t>
            </a:r>
            <a:endParaRPr lang="en-US" sz="3000" dirty="0"/>
          </a:p>
        </p:txBody>
      </p:sp>
      <p:sp>
        <p:nvSpPr>
          <p:cNvPr id="35" name="Text 33"/>
          <p:cNvSpPr txBox="1"/>
          <p:nvPr/>
        </p:nvSpPr>
        <p:spPr>
          <a:xfrm>
            <a:off x="6236208" y="3611880"/>
            <a:ext cx="2286000" cy="86868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processed images are saved once, so later runs start instantly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Five models, five different ideas</a:t>
            </a:r>
            <a:endParaRPr lang="en-US" sz="2800" dirty="0"/>
          </a:p>
        </p:txBody>
      </p:sp>
      <p:graphicFrame>
        <p:nvGraphicFramePr>
          <p:cNvPr id="6" name="models-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25880"/>
                <a:gridCol w="914400"/>
                <a:gridCol w="2926080"/>
                <a:gridCol w="30632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idea in plain words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makes it different</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11827"/>
                    </a:solidFill>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Linear SVM</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NumPy</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Draws straight dividing lines between activities, leaving the widest gap</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Learns mostly from hard, borderline images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Softmax</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NumPy</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Also straight lines, but scores each activity as a probability</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Tells you how confident it is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0D9488"/>
                          </a:solidFill>
                          <a:latin typeface="Calibri" pitchFamily="34" charset="0"/>
                          <a:ea typeface="Calibri" pitchFamily="34" charset="-122"/>
                          <a:cs typeface="Calibri" pitchFamily="34" charset="-120"/>
                        </a:rPr>
                        <a:t>Two-layer NN</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NumPy</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 small neural network with one hidden layer of 100 units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Can learn patterns that straight lines cannot</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Naive Bayes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scikit-learn</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Checks how well each pixel matches a typical image of each activity</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Very fast, but treats pixels as unrelated</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scikit-learn</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Asks a chain of yes/no questions about pixel brightness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Memorises the training images</a:t>
                      </a:r>
                      <a:endParaRPr lang="en-US" sz="1200" dirty="0">
                        <a:latin typeface="Calibri" charset="0"/>
                        <a:ea typeface="Calibri" charset="0"/>
                        <a:cs typeface="Calibri"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Text 1"/>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200" b="1" dirty="0">
                <a:solidFill>
                  <a:srgbClr val="0D9488"/>
                </a:solidFill>
                <a:latin typeface="Calibri" pitchFamily="34" charset="0"/>
                <a:ea typeface="Calibri" pitchFamily="34" charset="-122"/>
                <a:cs typeface="Calibri" pitchFamily="34" charset="-120"/>
              </a:rPr>
              <a:t>Teal = written from scratch by us in NumPy.  </a:t>
            </a:r>
            <a:pPr indent="0" marL="0">
              <a:buNone/>
            </a:pPr>
            <a:r>
              <a:rPr lang="en-US" sz="1200" b="1" dirty="0">
                <a:solidFill>
                  <a:srgbClr val="B45309"/>
                </a:solidFill>
                <a:latin typeface="Calibri" pitchFamily="34" charset="0"/>
                <a:ea typeface="Calibri" pitchFamily="34" charset="-122"/>
                <a:cs typeface="Calibri" pitchFamily="34" charset="-120"/>
              </a:rPr>
              <a:t>Amber = scikit-learn baselines.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How we trained and checked the models</a:t>
            </a:r>
            <a:endParaRPr lang="en-US" sz="2800" dirty="0"/>
          </a:p>
        </p:txBody>
      </p:sp>
      <p:sp>
        <p:nvSpPr>
          <p:cNvPr id="3" name="block-0"/>
          <p:cNvSpPr/>
          <p:nvPr/>
        </p:nvSpPr>
        <p:spPr>
          <a:xfrm>
            <a:off x="457200" y="1097280"/>
            <a:ext cx="2633472" cy="2148840"/>
          </a:xfrm>
          <a:prstGeom prst="roundRect">
            <a:avLst>
              <a:gd name="adj" fmla="val 3404"/>
            </a:avLst>
          </a:prstGeom>
          <a:solidFill>
            <a:srgbClr val="F1F5F9"/>
          </a:solidFill>
          <a:ln w="12700">
            <a:solidFill>
              <a:srgbClr val="F1F5F9"/>
            </a:solidFill>
            <a:prstDash val="solid"/>
          </a:ln>
        </p:spPr>
      </p:sp>
      <p:sp>
        <p:nvSpPr>
          <p:cNvPr id="4" name="num-0"/>
          <p:cNvSpPr/>
          <p:nvPr/>
        </p:nvSpPr>
        <p:spPr>
          <a:xfrm>
            <a:off x="640080" y="1234440"/>
            <a:ext cx="347472" cy="347472"/>
          </a:xfrm>
          <a:prstGeom prst="ellipse">
            <a:avLst/>
          </a:prstGeom>
          <a:solidFill>
            <a:srgbClr val="F59E0B"/>
          </a:solidFill>
          <a:ln w="12700">
            <a:solidFill>
              <a:srgbClr val="F59E0B"/>
            </a:solidFill>
            <a:prstDash val="solid"/>
          </a:ln>
        </p:spPr>
      </p:sp>
      <p:sp>
        <p:nvSpPr>
          <p:cNvPr id="5" name="Text 3"/>
          <p:cNvSpPr txBox="1"/>
          <p:nvPr/>
        </p:nvSpPr>
        <p:spPr>
          <a:xfrm>
            <a:off x="640080" y="1234440"/>
            <a:ext cx="347472" cy="347472"/>
          </a:xfrm>
          <a:prstGeom prst="rect">
            <a:avLst/>
          </a:prstGeom>
          <a:noFill/>
          <a:ln/>
        </p:spPr>
        <p:txBody>
          <a:bodyPr wrap="square" lIns="0" tIns="0" rIns="0" bIns="0" rtlCol="0" anchor="ctr"/>
          <a:lstStyle/>
          <a:p>
            <a:pPr algn="ctr" indent="0" marL="0">
              <a:buNone/>
            </a:pPr>
            <a:r>
              <a:rPr lang="en-US" sz="1400" b="1" dirty="0">
                <a:solidFill>
                  <a:srgbClr val="111827"/>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How it learns</a:t>
            </a:r>
            <a:endParaRPr lang="en-US" sz="1500" dirty="0"/>
          </a:p>
        </p:txBody>
      </p:sp>
      <p:sp>
        <p:nvSpPr>
          <p:cNvPr id="7" name="Text 5"/>
          <p:cNvSpPr txBox="1"/>
          <p:nvPr/>
        </p:nvSpPr>
        <p:spPr>
          <a:xfrm>
            <a:off x="640080"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Small batches: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learns from a few hundred random images at a time</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Repeated: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2,000 training steps</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Same start: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fixed random seed, so results repeat</a:t>
            </a:r>
            <a:endParaRPr lang="en-US" sz="1200" dirty="0"/>
          </a:p>
        </p:txBody>
      </p:sp>
      <p:sp>
        <p:nvSpPr>
          <p:cNvPr id="8" name="block-1"/>
          <p:cNvSpPr/>
          <p:nvPr/>
        </p:nvSpPr>
        <p:spPr>
          <a:xfrm>
            <a:off x="3255264" y="1097280"/>
            <a:ext cx="2633472" cy="2148840"/>
          </a:xfrm>
          <a:prstGeom prst="roundRect">
            <a:avLst>
              <a:gd name="adj" fmla="val 3404"/>
            </a:avLst>
          </a:prstGeom>
          <a:solidFill>
            <a:srgbClr val="F1F5F9"/>
          </a:solidFill>
          <a:ln w="12700">
            <a:solidFill>
              <a:srgbClr val="F1F5F9"/>
            </a:solidFill>
            <a:prstDash val="solid"/>
          </a:ln>
        </p:spPr>
      </p:sp>
      <p:sp>
        <p:nvSpPr>
          <p:cNvPr id="9" name="num-1"/>
          <p:cNvSpPr/>
          <p:nvPr/>
        </p:nvSpPr>
        <p:spPr>
          <a:xfrm>
            <a:off x="3438144" y="1234440"/>
            <a:ext cx="347472" cy="347472"/>
          </a:xfrm>
          <a:prstGeom prst="ellipse">
            <a:avLst/>
          </a:prstGeom>
          <a:solidFill>
            <a:srgbClr val="F59E0B"/>
          </a:solidFill>
          <a:ln w="12700">
            <a:solidFill>
              <a:srgbClr val="F59E0B"/>
            </a:solidFill>
            <a:prstDash val="solid"/>
          </a:ln>
        </p:spPr>
      </p:sp>
      <p:sp>
        <p:nvSpPr>
          <p:cNvPr id="10" name="Text 8"/>
          <p:cNvSpPr txBox="1"/>
          <p:nvPr/>
        </p:nvSpPr>
        <p:spPr>
          <a:xfrm>
            <a:off x="3438144" y="1234440"/>
            <a:ext cx="347472" cy="347472"/>
          </a:xfrm>
          <a:prstGeom prst="rect">
            <a:avLst/>
          </a:prstGeom>
          <a:noFill/>
          <a:ln/>
        </p:spPr>
        <p:txBody>
          <a:bodyPr wrap="square" lIns="0" tIns="0" rIns="0" bIns="0" rtlCol="0" anchor="ctr"/>
          <a:lstStyle/>
          <a:p>
            <a:pPr algn="ctr" indent="0" marL="0">
              <a:buNone/>
            </a:pPr>
            <a:r>
              <a:rPr lang="en-US" sz="1400" b="1" dirty="0">
                <a:solidFill>
                  <a:srgbClr val="111827"/>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895344"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Choosing settings</a:t>
            </a:r>
            <a:endParaRPr lang="en-US" sz="1500" dirty="0"/>
          </a:p>
        </p:txBody>
      </p:sp>
      <p:sp>
        <p:nvSpPr>
          <p:cNvPr id="12" name="Text 10"/>
          <p:cNvSpPr txBox="1"/>
          <p:nvPr/>
        </p:nvSpPr>
        <p:spPr>
          <a:xfrm>
            <a:off x="3438144"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Tries: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about 9 to 12 combinations per model</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Picks: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the best on a held-out part of the training data</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Never uses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the validation images to choose</a:t>
            </a:r>
            <a:endParaRPr lang="en-US" sz="1200" dirty="0"/>
          </a:p>
        </p:txBody>
      </p:sp>
      <p:sp>
        <p:nvSpPr>
          <p:cNvPr id="13" name="block-2"/>
          <p:cNvSpPr/>
          <p:nvPr/>
        </p:nvSpPr>
        <p:spPr>
          <a:xfrm>
            <a:off x="6053328" y="1097280"/>
            <a:ext cx="2633472" cy="2148840"/>
          </a:xfrm>
          <a:prstGeom prst="roundRect">
            <a:avLst>
              <a:gd name="adj" fmla="val 3404"/>
            </a:avLst>
          </a:prstGeom>
          <a:solidFill>
            <a:srgbClr val="F1F5F9"/>
          </a:solidFill>
          <a:ln w="12700">
            <a:solidFill>
              <a:srgbClr val="F1F5F9"/>
            </a:solidFill>
            <a:prstDash val="solid"/>
          </a:ln>
        </p:spPr>
      </p:sp>
      <p:sp>
        <p:nvSpPr>
          <p:cNvPr id="14" name="num-2"/>
          <p:cNvSpPr/>
          <p:nvPr/>
        </p:nvSpPr>
        <p:spPr>
          <a:xfrm>
            <a:off x="6236208" y="1234440"/>
            <a:ext cx="347472" cy="347472"/>
          </a:xfrm>
          <a:prstGeom prst="ellipse">
            <a:avLst/>
          </a:prstGeom>
          <a:solidFill>
            <a:srgbClr val="0D9488"/>
          </a:solidFill>
          <a:ln w="12700">
            <a:solidFill>
              <a:srgbClr val="0D9488"/>
            </a:solidFill>
            <a:prstDash val="solid"/>
          </a:ln>
        </p:spPr>
      </p:sp>
      <p:sp>
        <p:nvSpPr>
          <p:cNvPr id="15" name="Text 13"/>
          <p:cNvSpPr txBox="1"/>
          <p:nvPr/>
        </p:nvSpPr>
        <p:spPr>
          <a:xfrm>
            <a:off x="6236208" y="12344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693408" y="1234440"/>
            <a:ext cx="192024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Checking our maths</a:t>
            </a:r>
            <a:endParaRPr lang="en-US" sz="1500" dirty="0"/>
          </a:p>
        </p:txBody>
      </p:sp>
      <p:sp>
        <p:nvSpPr>
          <p:cNvPr id="17" name="Text 15"/>
          <p:cNvSpPr txBox="1"/>
          <p:nvPr/>
        </p:nvSpPr>
        <p:spPr>
          <a:xfrm>
            <a:off x="6236208" y="1737360"/>
            <a:ext cx="2331720" cy="1417320"/>
          </a:xfrm>
          <a:prstGeom prst="rect">
            <a:avLst/>
          </a:prstGeom>
          <a:noFill/>
          <a:ln/>
        </p:spPr>
        <p:txBody>
          <a:bodyPr wrap="square" lIns="0" tIns="0" rIns="0" bIns="0" rtlCol="0" anchor="t"/>
          <a:lstStyle/>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Method: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compare our formulas with a slow, simple numerical check</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Result: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they match almost exactly</a:t>
            </a:r>
            <a:endParaRPr lang="en-US" sz="1200" dirty="0"/>
          </a:p>
          <a:p>
            <a:pPr indent="0" marL="0">
              <a:spcAft>
                <a:spcPts val="500"/>
              </a:spcAft>
              <a:buNone/>
            </a:pPr>
            <a:r>
              <a:rPr lang="en-US" sz="1200" b="1" dirty="0">
                <a:solidFill>
                  <a:srgbClr val="0D9488"/>
                </a:solidFill>
                <a:latin typeface="Calibri" pitchFamily="34" charset="0"/>
                <a:ea typeface="Calibri" pitchFamily="34" charset="-122"/>
                <a:cs typeface="Calibri" pitchFamily="34" charset="-120"/>
              </a:rPr>
              <a:t>Meaning: </a:t>
            </a:r>
            <a:pPr indent="0" marL="0">
              <a:spcAft>
                <a:spcPts val="500"/>
              </a:spcAft>
              <a:buNone/>
            </a:pPr>
            <a:r>
              <a:rPr lang="en-US" sz="1200" dirty="0">
                <a:solidFill>
                  <a:srgbClr val="111827"/>
                </a:solidFill>
                <a:latin typeface="Calibri" pitchFamily="34" charset="0"/>
                <a:ea typeface="Calibri" pitchFamily="34" charset="-122"/>
                <a:cs typeface="Calibri" pitchFamily="34" charset="-120"/>
              </a:rPr>
              <a:t>our from-scratch code is correct</a:t>
            </a:r>
            <a:endParaRPr lang="en-US" sz="1200" dirty="0"/>
          </a:p>
        </p:txBody>
      </p:sp>
      <p:sp>
        <p:nvSpPr>
          <p:cNvPr id="18" name="term-lr"/>
          <p:cNvSpPr/>
          <p:nvPr/>
        </p:nvSpPr>
        <p:spPr>
          <a:xfrm>
            <a:off x="457200" y="3474720"/>
            <a:ext cx="4023360" cy="1097280"/>
          </a:xfrm>
          <a:prstGeom prst="roundRect">
            <a:avLst>
              <a:gd name="adj" fmla="val 6667"/>
            </a:avLst>
          </a:prstGeom>
          <a:solidFill>
            <a:srgbClr val="111827"/>
          </a:solidFill>
          <a:ln w="12700">
            <a:solidFill>
              <a:srgbClr val="111827"/>
            </a:solidFill>
            <a:prstDash val="solid"/>
          </a:ln>
        </p:spPr>
      </p:sp>
      <p:sp>
        <p:nvSpPr>
          <p:cNvPr id="19" name="Text 17"/>
          <p:cNvSpPr txBox="1"/>
          <p:nvPr/>
        </p:nvSpPr>
        <p:spPr>
          <a:xfrm>
            <a:off x="640080" y="3547872"/>
            <a:ext cx="3657600" cy="9601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Learning speed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How big a correction the model makes after each batch. Too small is slow; too big overshoots.</a:t>
            </a:r>
            <a:endParaRPr lang="en-US" sz="1200" dirty="0"/>
          </a:p>
        </p:txBody>
      </p:sp>
      <p:sp>
        <p:nvSpPr>
          <p:cNvPr id="20" name="term-reg"/>
          <p:cNvSpPr/>
          <p:nvPr/>
        </p:nvSpPr>
        <p:spPr>
          <a:xfrm>
            <a:off x="4663440" y="3474720"/>
            <a:ext cx="4023360" cy="1097280"/>
          </a:xfrm>
          <a:prstGeom prst="roundRect">
            <a:avLst>
              <a:gd name="adj" fmla="val 6667"/>
            </a:avLst>
          </a:prstGeom>
          <a:solidFill>
            <a:srgbClr val="111827"/>
          </a:solidFill>
          <a:ln w="12700">
            <a:solidFill>
              <a:srgbClr val="111827"/>
            </a:solidFill>
            <a:prstDash val="solid"/>
          </a:ln>
        </p:spPr>
      </p:sp>
      <p:sp>
        <p:nvSpPr>
          <p:cNvPr id="21" name="Text 19"/>
          <p:cNvSpPr txBox="1"/>
          <p:nvPr/>
        </p:nvSpPr>
        <p:spPr>
          <a:xfrm>
            <a:off x="4846320" y="3547872"/>
            <a:ext cx="3657600" cy="9601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Regularisation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 penalty that keeps the model simple, so it does not just memorise the training images.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Accuracy collapses on unseen drivers</a:t>
            </a:r>
            <a:endParaRPr lang="en-US" sz="2800" dirty="0"/>
          </a:p>
        </p:txBody>
      </p:sp>
      <p:graphicFrame>
        <p:nvGraphicFramePr>
          <p:cNvPr id="3" name="Chart 0" descr=""/>
          <p:cNvGraphicFramePr/>
          <p:nvPr/>
        </p:nvGraphicFramePr>
        <p:xfrm>
          <a:off x="365760" y="100584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4" name="stat-best"/>
          <p:cNvSpPr/>
          <p:nvPr/>
        </p:nvSpPr>
        <p:spPr>
          <a:xfrm>
            <a:off x="6263640" y="1097280"/>
            <a:ext cx="2423160" cy="1097280"/>
          </a:xfrm>
          <a:prstGeom prst="roundRect">
            <a:avLst>
              <a:gd name="adj" fmla="val 6667"/>
            </a:avLst>
          </a:prstGeom>
          <a:solidFill>
            <a:srgbClr val="F1F5F9"/>
          </a:solidFill>
          <a:ln w="12700">
            <a:solidFill>
              <a:srgbClr val="F1F5F9"/>
            </a:solidFill>
            <a:prstDash val="solid"/>
          </a:ln>
        </p:spPr>
      </p:sp>
      <p:sp>
        <p:nvSpPr>
          <p:cNvPr id="5" name="Text 2"/>
          <p:cNvSpPr txBox="1"/>
          <p:nvPr/>
        </p:nvSpPr>
        <p:spPr>
          <a:xfrm>
            <a:off x="6263640" y="1143000"/>
            <a:ext cx="2423160" cy="594360"/>
          </a:xfrm>
          <a:prstGeom prst="rect">
            <a:avLst/>
          </a:prstGeom>
          <a:noFill/>
          <a:ln/>
        </p:spPr>
        <p:txBody>
          <a:bodyPr wrap="square" lIns="0" tIns="0" rIns="0" bIns="0" rtlCol="0" anchor="ctr"/>
          <a:lstStyle/>
          <a:p>
            <a:pPr algn="ctr" indent="0" marL="0">
              <a:buNone/>
            </a:pPr>
            <a:r>
              <a:rPr lang="en-US" sz="3600" b="1" dirty="0">
                <a:solidFill>
                  <a:srgbClr val="0D9488"/>
                </a:solidFill>
                <a:latin typeface="Cambria" pitchFamily="34" charset="0"/>
                <a:ea typeface="Cambria" pitchFamily="34" charset="-122"/>
                <a:cs typeface="Cambria" pitchFamily="34" charset="-120"/>
              </a:rPr>
              <a:t>NN</a:t>
            </a:r>
            <a:endParaRPr lang="en-US" sz="3600" dirty="0"/>
          </a:p>
        </p:txBody>
      </p:sp>
      <p:sp>
        <p:nvSpPr>
          <p:cNvPr id="6" name="Text 3"/>
          <p:cNvSpPr txBox="1"/>
          <p:nvPr/>
        </p:nvSpPr>
        <p:spPr>
          <a:xfrm>
            <a:off x="6400800" y="1719072"/>
            <a:ext cx="2148840" cy="41148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best model under both protocols (98.0% / 51.6%)</a:t>
            </a:r>
            <a:endParaRPr lang="en-US" sz="1100" dirty="0"/>
          </a:p>
        </p:txBody>
      </p:sp>
      <p:sp>
        <p:nvSpPr>
          <p:cNvPr id="7" name="Text 4"/>
          <p:cNvSpPr txBox="1"/>
          <p:nvPr/>
        </p:nvSpPr>
        <p:spPr>
          <a:xfrm>
            <a:off x="6263640" y="2423160"/>
            <a:ext cx="2423160" cy="1097280"/>
          </a:xfrm>
          <a:prstGeom prst="rect">
            <a:avLst/>
          </a:prstGeom>
          <a:noFill/>
          <a:ln/>
        </p:spPr>
        <p:txBody>
          <a:bodyPr wrap="square" lIns="0" tIns="0" rIns="0" bIns="0" rtlCol="0" anchor="t"/>
          <a:lstStyle/>
          <a:p>
            <a:pPr indent="0" marL="0">
              <a:buNone/>
            </a:pPr>
            <a:r>
              <a:rPr lang="en-US" sz="1100" b="1" dirty="0">
                <a:solidFill>
                  <a:srgbClr val="334155"/>
                </a:solidFill>
                <a:latin typeface="Calibri" pitchFamily="34" charset="0"/>
                <a:ea typeface="Calibri" pitchFamily="34" charset="-122"/>
                <a:cs typeface="Calibri" pitchFamily="34" charset="-120"/>
              </a:rPr>
              <a:t>Reference paper (random split): </a:t>
            </a:r>
            <a:pPr indent="0" marL="0">
              <a:buNone/>
            </a:pPr>
            <a:r>
              <a:rPr lang="en-US" sz="1100" dirty="0">
                <a:solidFill>
                  <a:srgbClr val="334155"/>
                </a:solidFill>
                <a:latin typeface="Calibri" pitchFamily="34" charset="0"/>
                <a:ea typeface="Calibri" pitchFamily="34" charset="-122"/>
                <a:cs typeface="Calibri" pitchFamily="34" charset="-120"/>
              </a:rPr>
              <a:t>NN 92, softmax 82, SVM 71, tree 85, NB 55. Our SVM scores higher because we tuned it carefully.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111827"/>
                </a:solidFill>
                <a:latin typeface="Cambria" pitchFamily="34" charset="0"/>
                <a:ea typeface="Cambria" pitchFamily="34" charset="-122"/>
                <a:cs typeface="Cambria" pitchFamily="34" charset="-120"/>
              </a:rPr>
              <a:t>Best model: where the neural net fails</a:t>
            </a:r>
            <a:endParaRPr lang="en-US" sz="2800" dirty="0"/>
          </a:p>
        </p:txBody>
      </p:sp>
      <p:pic>
        <p:nvPicPr>
          <p:cNvPr id="3" name="confusion-matrix" descr="Confusion matrix of the two-layer net on the driver-wise validation split">    </p:cNvPr>
          <p:cNvPicPr>
            <a:picLocks noChangeAspect="1"/>
          </p:cNvPicPr>
          <p:nvPr/>
        </p:nvPicPr>
        <p:blipFill>
          <a:blip r:embed="rId1"/>
          <a:stretch>
            <a:fillRect/>
          </a:stretch>
        </p:blipFill>
        <p:spPr>
          <a:xfrm>
            <a:off x="457200" y="1051560"/>
            <a:ext cx="3977640" cy="3493008"/>
          </a:xfrm>
          <a:prstGeom prst="rect">
            <a:avLst/>
          </a:prstGeom>
        </p:spPr>
      </p:pic>
      <p:graphicFrame>
        <p:nvGraphicFramePr>
          <p:cNvPr id="4" name="Chart 0" descr=""/>
          <p:cNvGraphicFramePr/>
          <p:nvPr/>
        </p:nvGraphicFramePr>
        <p:xfrm>
          <a:off x="4572000" y="1005840"/>
          <a:ext cx="4206240" cy="2606040"/>
        </p:xfrm>
        <a:graphic xmlns:a="http://schemas.openxmlformats.org/drawingml/2006/main">
          <a:graphicData uri="http://schemas.openxmlformats.org/drawingml/2006/chart">
            <c:chart xmlns:c="http://schemas.openxmlformats.org/drawingml/2006/chart" r:id="rId2"/>
          </a:graphicData>
        </a:graphic>
      </p:graphicFrame>
      <p:sp>
        <p:nvSpPr>
          <p:cNvPr id="5" name="insight-card"/>
          <p:cNvSpPr/>
          <p:nvPr/>
        </p:nvSpPr>
        <p:spPr>
          <a:xfrm>
            <a:off x="4572000" y="3703320"/>
            <a:ext cx="4114800" cy="841248"/>
          </a:xfrm>
          <a:prstGeom prst="roundRect">
            <a:avLst>
              <a:gd name="adj" fmla="val 8696"/>
            </a:avLst>
          </a:prstGeom>
          <a:solidFill>
            <a:srgbClr val="111827"/>
          </a:solidFill>
          <a:ln w="12700">
            <a:solidFill>
              <a:srgbClr val="111827"/>
            </a:solidFill>
            <a:prstDash val="solid"/>
          </a:ln>
        </p:spPr>
      </p:sp>
      <p:sp>
        <p:nvSpPr>
          <p:cNvPr id="6" name="Text 2"/>
          <p:cNvSpPr txBox="1"/>
          <p:nvPr/>
        </p:nvSpPr>
        <p:spPr>
          <a:xfrm>
            <a:off x="4709160" y="3730752"/>
            <a:ext cx="3840480" cy="7863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Hair and makeup is a catch-all: </a:t>
            </a:r>
            <a:pPr indent="0" marL="0">
              <a:buNone/>
            </a:pPr>
            <a:r>
              <a:rPr lang="en-US" sz="1100" dirty="0">
                <a:solidFill>
                  <a:srgbClr val="FFFFFF"/>
                </a:solidFill>
                <a:latin typeface="Calibri" pitchFamily="34" charset="0"/>
                <a:ea typeface="Calibri" pitchFamily="34" charset="-122"/>
                <a:cs typeface="Calibri" pitchFamily="34" charset="-120"/>
              </a:rPr>
              <a:t>1 in 4 predictions is this class, though only about 1 in 13 images really is. Most common mistake: phone-right labelled as hair and makeup.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Conclusions, limits and demo</a:t>
            </a:r>
            <a:endParaRPr lang="en-US" sz="2800" dirty="0"/>
          </a:p>
        </p:txBody>
      </p:sp>
      <p:sp>
        <p:nvSpPr>
          <p:cNvPr id="3" name="close-card-0"/>
          <p:cNvSpPr/>
          <p:nvPr/>
        </p:nvSpPr>
        <p:spPr>
          <a:xfrm>
            <a:off x="457200" y="1097280"/>
            <a:ext cx="4023360" cy="2377440"/>
          </a:xfrm>
          <a:prstGeom prst="roundRect">
            <a:avLst>
              <a:gd name="adj" fmla="val 3077"/>
            </a:avLst>
          </a:prstGeom>
          <a:solidFill>
            <a:srgbClr val="1F2937"/>
          </a:solidFill>
          <a:ln w="12700">
            <a:solidFill>
              <a:srgbClr val="1F2937"/>
            </a:solidFill>
            <a:prstDash val="solid"/>
          </a:ln>
        </p:spPr>
      </p:sp>
      <p:sp>
        <p:nvSpPr>
          <p:cNvPr id="4" name="Text 2"/>
          <p:cNvSpPr txBox="1"/>
          <p:nvPr/>
        </p:nvSpPr>
        <p:spPr>
          <a:xfrm>
            <a:off x="685800" y="1207008"/>
            <a:ext cx="3566160" cy="347472"/>
          </a:xfrm>
          <a:prstGeom prst="rect">
            <a:avLst/>
          </a:prstGeom>
          <a:noFill/>
          <a:ln/>
        </p:spPr>
        <p:txBody>
          <a:bodyPr wrap="square" lIns="0" tIns="0" rIns="0" bIns="0" rtlCol="0" anchor="t"/>
          <a:lstStyle/>
          <a:p>
            <a:pPr indent="0" marL="0">
              <a:buNone/>
            </a:pPr>
            <a:r>
              <a:rPr lang="en-US" sz="1800" b="1" dirty="0">
                <a:solidFill>
                  <a:srgbClr val="F59E0B"/>
                </a:solidFill>
                <a:latin typeface="Cambria" pitchFamily="34" charset="0"/>
                <a:ea typeface="Cambria" pitchFamily="34" charset="-122"/>
                <a:cs typeface="Cambria" pitchFamily="34" charset="-120"/>
              </a:rPr>
              <a:t>What we found</a:t>
            </a:r>
            <a:endParaRPr lang="en-US" sz="1800" dirty="0"/>
          </a:p>
        </p:txBody>
      </p:sp>
      <p:sp>
        <p:nvSpPr>
          <p:cNvPr id="5" name="Text 3"/>
          <p:cNvSpPr txBox="1"/>
          <p:nvPr/>
        </p:nvSpPr>
        <p:spPr>
          <a:xfrm>
            <a:off x="685800" y="16459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Two-layer NN wins both protocols: 98.0% random, 51.6% driver-wise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Random-split scores are optimistic: about 42 points lower on unseen drivers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Our from-scratch maths was checked and is correct; settings were never tuned on validation</a:t>
            </a:r>
            <a:endParaRPr lang="en-US" sz="1250" dirty="0"/>
          </a:p>
        </p:txBody>
      </p:sp>
      <p:sp>
        <p:nvSpPr>
          <p:cNvPr id="6" name="close-card-1"/>
          <p:cNvSpPr/>
          <p:nvPr/>
        </p:nvSpPr>
        <p:spPr>
          <a:xfrm>
            <a:off x="4663440" y="1097280"/>
            <a:ext cx="4023360" cy="2377440"/>
          </a:xfrm>
          <a:prstGeom prst="roundRect">
            <a:avLst>
              <a:gd name="adj" fmla="val 3077"/>
            </a:avLst>
          </a:prstGeom>
          <a:solidFill>
            <a:srgbClr val="1F2937"/>
          </a:solidFill>
          <a:ln w="12700">
            <a:solidFill>
              <a:srgbClr val="1F2937"/>
            </a:solidFill>
            <a:prstDash val="solid"/>
          </a:ln>
        </p:spPr>
      </p:sp>
      <p:sp>
        <p:nvSpPr>
          <p:cNvPr id="7" name="Text 5"/>
          <p:cNvSpPr txBox="1"/>
          <p:nvPr/>
        </p:nvSpPr>
        <p:spPr>
          <a:xfrm>
            <a:off x="4892040" y="1207008"/>
            <a:ext cx="3566160" cy="347472"/>
          </a:xfrm>
          <a:prstGeom prst="rect">
            <a:avLst/>
          </a:prstGeom>
          <a:noFill/>
          <a:ln/>
        </p:spPr>
        <p:txBody>
          <a:bodyPr wrap="square" lIns="0" tIns="0" rIns="0" bIns="0" rtlCol="0" anchor="t"/>
          <a:lstStyle/>
          <a:p>
            <a:pPr indent="0" marL="0">
              <a:buNone/>
            </a:pPr>
            <a:r>
              <a:rPr lang="en-US" sz="1800" b="1" dirty="0">
                <a:solidFill>
                  <a:srgbClr val="0D9488"/>
                </a:solidFill>
                <a:latin typeface="Cambria" pitchFamily="34" charset="0"/>
                <a:ea typeface="Cambria" pitchFamily="34" charset="-122"/>
                <a:cs typeface="Cambria" pitchFamily="34" charset="-120"/>
              </a:rPr>
              <a:t>Limitations, next steps</a:t>
            </a:r>
            <a:endParaRPr lang="en-US" sz="1800" dirty="0"/>
          </a:p>
        </p:txBody>
      </p:sp>
      <p:sp>
        <p:nvSpPr>
          <p:cNvPr id="8" name="Text 6"/>
          <p:cNvSpPr txBox="1"/>
          <p:nvPr/>
        </p:nvSpPr>
        <p:spPr>
          <a:xfrm>
            <a:off x="4892040" y="16459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Small 64x64 images lose detail; these models ignore where things are in the picture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Tested with one random seed and only 5 unseen drivers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Next: a CNN (image-specific neural network), more varied training images, testing on more drivers</a:t>
            </a:r>
            <a:endParaRPr lang="en-US" sz="1250" dirty="0"/>
          </a:p>
        </p:txBody>
      </p:sp>
      <p:sp>
        <p:nvSpPr>
          <p:cNvPr id="9" name="demo-strip"/>
          <p:cNvSpPr/>
          <p:nvPr/>
        </p:nvSpPr>
        <p:spPr>
          <a:xfrm>
            <a:off x="457200" y="3657600"/>
            <a:ext cx="8229600" cy="914400"/>
          </a:xfrm>
          <a:prstGeom prst="roundRect">
            <a:avLst>
              <a:gd name="adj" fmla="val 8000"/>
            </a:avLst>
          </a:prstGeom>
          <a:solidFill>
            <a:srgbClr val="F59E0B"/>
          </a:solidFill>
          <a:ln w="12700">
            <a:solidFill>
              <a:srgbClr val="F59E0B"/>
            </a:solidFill>
            <a:prstDash val="solid"/>
          </a:ln>
        </p:spPr>
      </p:sp>
      <p:sp>
        <p:nvSpPr>
          <p:cNvPr id="10" name="Text 8"/>
          <p:cNvSpPr txBox="1"/>
          <p:nvPr/>
        </p:nvSpPr>
        <p:spPr>
          <a:xfrm>
            <a:off x="685800" y="3703320"/>
            <a:ext cx="1463040" cy="822960"/>
          </a:xfrm>
          <a:prstGeom prst="rect">
            <a:avLst/>
          </a:prstGeom>
          <a:noFill/>
          <a:ln/>
        </p:spPr>
        <p:txBody>
          <a:bodyPr wrap="square" lIns="0" tIns="0" rIns="0" bIns="0" rtlCol="0" anchor="ctr"/>
          <a:lstStyle/>
          <a:p>
            <a:pPr indent="0" marL="0">
              <a:buNone/>
            </a:pPr>
            <a:r>
              <a:rPr lang="en-US" sz="1800" b="1" dirty="0">
                <a:solidFill>
                  <a:srgbClr val="111827"/>
                </a:solidFill>
                <a:latin typeface="Cambria" pitchFamily="34" charset="0"/>
                <a:ea typeface="Cambria" pitchFamily="34" charset="-122"/>
                <a:cs typeface="Cambria" pitchFamily="34" charset="-120"/>
              </a:rPr>
              <a:t>Live demo</a:t>
            </a:r>
            <a:endParaRPr lang="en-US" sz="1800" dirty="0"/>
          </a:p>
        </p:txBody>
      </p:sp>
      <p:sp>
        <p:nvSpPr>
          <p:cNvPr id="11" name="Text 9"/>
          <p:cNvSpPr txBox="1"/>
          <p:nvPr/>
        </p:nvSpPr>
        <p:spPr>
          <a:xfrm>
            <a:off x="2194560" y="3721608"/>
            <a:ext cx="6309360" cy="786384"/>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1  Open the notebook, last section</a:t>
            </a:r>
            <a:endParaRPr lang="en-US" sz="1250" dirty="0"/>
          </a:p>
          <a:p>
            <a:pPr indent="0" marL="0">
              <a:buNone/>
            </a:pPr>
            <a:r>
              <a:rPr lang="en-US" sz="1250" b="1" dirty="0">
                <a:solidFill>
                  <a:srgbClr val="111827"/>
                </a:solidFill>
                <a:latin typeface="Calibri" pitchFamily="34" charset="0"/>
                <a:ea typeface="Calibri" pitchFamily="34" charset="-122"/>
                <a:cs typeface="Calibri" pitchFamily="34" charset="-120"/>
              </a:rPr>
              <a:t>2  Set IMAGE_PATH (or leave None for a random image)</a:t>
            </a:r>
            <a:endParaRPr lang="en-US" sz="1250" dirty="0"/>
          </a:p>
          <a:p>
            <a:pPr indent="0" marL="0">
              <a:buNone/>
            </a:pPr>
            <a:r>
              <a:rPr lang="en-US" sz="1250" b="1" dirty="0">
                <a:solidFill>
                  <a:srgbClr val="111827"/>
                </a:solidFill>
                <a:latin typeface="Calibri" pitchFamily="34" charset="0"/>
                <a:ea typeface="Calibri" pitchFamily="34" charset="-122"/>
                <a:cs typeface="Calibri" pitchFamily="34" charset="-120"/>
              </a:rPr>
              <a:t>3  Run: image, predicted activity and top-3 probabilities</a:t>
            </a:r>
            <a:endParaRPr lang="en-US" sz="1250" dirty="0"/>
          </a:p>
        </p:txBody>
      </p:sp>
    </p:spTree>
  </p:cSld>
  <p:clrMapOvr>
    <a:masterClrMapping/>
  </p:clrMapOvr>
</p:sld>
</file>

<file path=ppt/theme/theme1.xml><?xml version="1.0" encoding="utf-8"?>
<a:theme xmlns:a="http://schemas.openxmlformats.org/drawingml/2006/main" name="Dashboard Night">
  <a:themeElements>
    <a:clrScheme name="Dashboard Night">
      <a:dk1>
        <a:srgbClr val="111827"/>
      </a:dk1>
      <a:lt1>
        <a:srgbClr val="FFFFFF"/>
      </a:lt1>
      <a:dk2>
        <a:srgbClr val="1F2937"/>
      </a:dk2>
      <a:lt2>
        <a:srgbClr val="F1F5F9"/>
      </a:lt2>
      <a:accent1>
        <a:srgbClr val="F59E0B"/>
      </a:accent1>
      <a:accent2>
        <a:srgbClr val="0D9488"/>
      </a:accent2>
      <a:accent3>
        <a:srgbClr val="EF4444"/>
      </a:accent3>
      <a:accent4>
        <a:srgbClr val="6366F1"/>
      </a:accent4>
      <a:accent5>
        <a:srgbClr val="64748B"/>
      </a:accent5>
      <a:accent6>
        <a:srgbClr val="94A3B8"/>
      </a:accent6>
      <a:hlink>
        <a:srgbClr val="0D9488"/>
      </a:hlink>
      <a:folHlink>
        <a:srgbClr val="64748B"/>
      </a:folHlink>
    </a:clrScheme>
    <a:fontScheme name="Dashboard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Distracted Driver Detection</dc:title>
  <dc:subject>PptxGenJS Presentation</dc:subject>
  <dc:creator>Arya Devang, Ananthakrishna</dc:creator>
  <cp:lastModifiedBy>Arya Devang, Ananthakrishna</cp:lastModifiedBy>
  <cp:revision>1</cp:revision>
  <dcterms:created xsi:type="dcterms:W3CDTF">2026-10-16T08:20:32Z</dcterms:created>
  <dcterms:modified xsi:type="dcterms:W3CDTF">2026-10-16T08:20:32Z</dcterms:modified>
</cp:coreProperties>
</file>