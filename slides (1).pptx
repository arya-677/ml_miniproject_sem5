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9294682f-d2bb-f34e-23cc-b43986cd0a81}">
          <p14:sldIdLst>
            <p14:sldId id="256"/>
            <p14:sldId id="257"/>
          </p14:sldIdLst>
        </p14:section>
        <p14:section name="Method" id="{b7e4ca80-3c73-90ca-841a-bf3414db0183}">
          <p14:sldIdLst>
            <p14:sldId id="258"/>
            <p14:sldId id="259"/>
            <p14:sldId id="260"/>
            <p14:sldId id="261"/>
          </p14:sldIdLst>
        </p14:section>
        <p14:section name="Results" id="{1281e954-2fd3-5d1a-0adb-e163a3b59614}">
          <p14:sldIdLst>
            <p14:sldId id="262"/>
            <p14:sldId id="263"/>
            <p14:sldId id="264"/>
          </p14:sldIdLst>
        </p14:section>
        <p14:section name="Wrap-up" id="{bebdba07-d429-70fb-cec6-419ad00e3191}">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11827"/>
                </a:solidFill>
                <a:latin typeface="+mn-lt"/>
              </a:defRPr>
            </a:pPr>
            <a:r>
              <a:rPr sz="1400" b="0" i="0" u="none" strike="noStrike">
                <a:solidFill>
                  <a:srgbClr val="111827"/>
                </a:solidFill>
                <a:latin typeface="+mn-lt"/>
              </a:rPr>
              <a:t>Validation accuracy (%)</a:t>
            </a:r>
          </a:p>
        </c:rich>
      </c:tx>
      <c:layout/>
      <c:overlay val="0"/>
    </c:title>
    <c:autoTitleDeleted val="0"/>
    <c:plotArea>
      <c:layout/>
      <c:barChart>
        <c:barDir val="col"/>
        <c:grouping val="clustered"/>
        <c:varyColors val="0"/>
        <c:ser>
          <c:idx val="0"/>
          <c:order val="0"/>
          <c:tx>
            <c:strRef>
              <c:f>Sheet1!$B$1</c:f>
              <c:strCache>
                <c:ptCount val="1"/>
                <c:pt idx="0">
                  <c:v>Random split</c:v>
                </c:pt>
              </c:strCache>
            </c:strRef>
          </c:tx>
          <c:spPr>
            <a:solidFill>
              <a:srgbClr val="0D9488"/>
            </a:solidFill>
            <a:effectLst/>
          </c:spPr>
          <c:invertIfNegative val="0"/>
          <c:dLbls>
            <c:numFmt formatCode="0.0" sourceLinked="0"/>
            <c:txPr>
              <a:bodyPr/>
              <a:lstStyle/>
              <a:p>
                <a:pPr>
                  <a:defRPr b="0" i="0" strike="noStrike" sz="1000" u="none">
                    <a:solidFill>
                      <a:srgbClr val="111827"/>
                    </a:solidFill>
                    <a:latin typeface="+mn-lt"/>
                  </a:defRPr>
                </a:pPr>
              </a:p>
            </c:txPr>
            <c:showLegendKey val="0"/>
            <c:showVal val="1"/>
            <c:showCatName val="0"/>
            <c:showSerName val="0"/>
            <c:showPercent val="0"/>
            <c:showBubbleSize val="0"/>
            <c:showLeaderLines val="0"/>
          </c:dLbls>
          <c:cat>
            <c:multiLvlStrRef>
              <c:f>Sheet1!$A$2:$A$6</c:f>
              <c:multiLvlStrCache>
                <c:ptCount val="5"/>
                <c:lvl>
                  <c:pt idx="0">
                    <c:v>Naive Bayes</c:v>
                  </c:pt>
                  <c:pt idx="1">
                    <c:v>Decision Tree</c:v>
                  </c:pt>
                  <c:pt idx="2">
                    <c:v>Linear SVM</c:v>
                  </c:pt>
                  <c:pt idx="3">
                    <c:v>Softmax</c:v>
                  </c:pt>
                  <c:pt idx="4">
                    <c:v>Two-layer NN</c:v>
                  </c:pt>
                </c:lvl>
              </c:multiLvlStrCache>
            </c:multiLvlStrRef>
          </c:cat>
          <c:val>
            <c:numRef>
              <c:f>Sheet1!$B$2:$B$6</c:f>
              <c:numCache>
                <c:formatCode>General</c:formatCode>
                <c:ptCount val="5"/>
                <c:pt idx="0">
                  <c:v>55.22</c:v>
                </c:pt>
                <c:pt idx="1">
                  <c:v>89.12</c:v>
                </c:pt>
                <c:pt idx="2">
                  <c:v>95.34</c:v>
                </c:pt>
                <c:pt idx="3">
                  <c:v>71.39</c:v>
                </c:pt>
                <c:pt idx="4">
                  <c:v>98.02</c:v>
                </c:pt>
              </c:numCache>
            </c:numRef>
          </c:val>
        </c:ser>
        <c:ser>
          <c:idx val="1"/>
          <c:order val="1"/>
          <c:tx>
            <c:strRef>
              <c:f>Sheet1!$C$1</c:f>
              <c:strCache>
                <c:ptCount val="1"/>
                <c:pt idx="0">
                  <c:v>Driver-wise split</c:v>
                </c:pt>
              </c:strCache>
            </c:strRef>
          </c:tx>
          <c:spPr>
            <a:solidFill>
              <a:srgbClr val="F59E0B"/>
            </a:solidFill>
            <a:effectLst/>
          </c:spPr>
          <c:invertIfNegative val="0"/>
          <c:dLbls>
            <c:numFmt formatCode="0.0" sourceLinked="0"/>
            <c:txPr>
              <a:bodyPr/>
              <a:lstStyle/>
              <a:p>
                <a:pPr>
                  <a:defRPr b="0" i="0" strike="noStrike" sz="1000" u="none">
                    <a:solidFill>
                      <a:srgbClr val="111827"/>
                    </a:solidFill>
                    <a:latin typeface="+mn-lt"/>
                  </a:defRPr>
                </a:pPr>
              </a:p>
            </c:txPr>
            <c:showLegendKey val="0"/>
            <c:showVal val="1"/>
            <c:showCatName val="0"/>
            <c:showSerName val="0"/>
            <c:showPercent val="0"/>
            <c:showBubbleSize val="0"/>
            <c:showLeaderLines val="0"/>
          </c:dLbls>
          <c:cat>
            <c:multiLvlStrRef>
              <c:f>Sheet1!$A$2:$A$6</c:f>
              <c:multiLvlStrCache>
                <c:ptCount val="5"/>
                <c:lvl>
                  <c:pt idx="0">
                    <c:v>Naive Bayes</c:v>
                  </c:pt>
                  <c:pt idx="1">
                    <c:v>Decision Tree</c:v>
                  </c:pt>
                  <c:pt idx="2">
                    <c:v>Linear SVM</c:v>
                  </c:pt>
                  <c:pt idx="3">
                    <c:v>Softmax</c:v>
                  </c:pt>
                  <c:pt idx="4">
                    <c:v>Two-layer NN</c:v>
                  </c:pt>
                </c:lvl>
              </c:multiLvlStrCache>
            </c:multiLvlStrRef>
          </c:cat>
          <c:val>
            <c:numRef>
              <c:f>Sheet1!$C$2:$C$6</c:f>
              <c:numCache>
                <c:formatCode>General</c:formatCode>
                <c:ptCount val="5"/>
                <c:pt idx="0">
                  <c:v>32.61</c:v>
                </c:pt>
                <c:pt idx="1">
                  <c:v>29.66</c:v>
                </c:pt>
                <c:pt idx="2">
                  <c:v>45.39</c:v>
                </c:pt>
                <c:pt idx="3">
                  <c:v>41.93</c:v>
                </c:pt>
                <c:pt idx="4">
                  <c:v>51.55</c:v>
                </c:pt>
              </c:numCache>
            </c:numRef>
          </c:val>
        </c:ser>
        <c:dLbls>
          <c:numFmt formatCode="0.0" sourceLinked="0"/>
          <c:txPr>
            <a:bodyPr/>
            <a:lstStyle/>
            <a:p>
              <a:pPr>
                <a:defRPr b="0" i="0" strike="noStrike" sz="1000" u="none">
                  <a:solidFill>
                    <a:srgbClr val="11182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solidFill>
                <a:srgbClr val="334155"/>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11827"/>
                </a:solidFill>
                <a:latin typeface="+mn-lt"/>
              </a:defRPr>
            </a:pPr>
            <a:r>
              <a:rPr sz="1400" b="0" i="0" u="none" strike="noStrike">
                <a:solidFill>
                  <a:srgbClr val="111827"/>
                </a:solidFill>
                <a:latin typeface="+mn-lt"/>
              </a:rPr>
              <a:t>Driver-wise split: train vs validation (%)</a:t>
            </a:r>
          </a:p>
        </c:rich>
      </c:tx>
      <c:layout/>
      <c:overlay val="0"/>
    </c:title>
    <c:autoTitleDeleted val="0"/>
    <c:plotArea>
      <c:layout/>
      <c:barChart>
        <c:barDir val="col"/>
        <c:grouping val="clustered"/>
        <c:varyColors val="0"/>
        <c:ser>
          <c:idx val="0"/>
          <c:order val="0"/>
          <c:tx>
            <c:strRef>
              <c:f>Sheet1!$B$1</c:f>
              <c:strCache>
                <c:ptCount val="1"/>
                <c:pt idx="0">
                  <c:v>Train accuracy</c:v>
                </c:pt>
              </c:strCache>
            </c:strRef>
          </c:tx>
          <c:spPr>
            <a:solidFill>
              <a:srgbClr val="94A3B8"/>
            </a:solidFill>
            <a:effectLst/>
          </c:spPr>
          <c:invertIfNegative val="0"/>
          <c:dLbls>
            <c:numFmt formatCode="0.0" sourceLinked="0"/>
            <c:txPr>
              <a:bodyPr/>
              <a:lstStyle/>
              <a:p>
                <a:pPr>
                  <a:defRPr b="0" i="0" strike="noStrike" sz="1000" u="none">
                    <a:solidFill>
                      <a:srgbClr val="111827"/>
                    </a:solidFill>
                    <a:latin typeface="+mn-lt"/>
                  </a:defRPr>
                </a:pPr>
              </a:p>
            </c:txPr>
            <c:showLegendKey val="0"/>
            <c:showVal val="1"/>
            <c:showCatName val="0"/>
            <c:showSerName val="0"/>
            <c:showPercent val="0"/>
            <c:showBubbleSize val="0"/>
            <c:showLeaderLines val="0"/>
          </c:dLbls>
          <c:cat>
            <c:multiLvlStrRef>
              <c:f>Sheet1!$A$2:$A$6</c:f>
              <c:multiLvlStrCache>
                <c:ptCount val="5"/>
                <c:lvl>
                  <c:pt idx="0">
                    <c:v>Naive Bayes</c:v>
                  </c:pt>
                  <c:pt idx="1">
                    <c:v>Decision Tree</c:v>
                  </c:pt>
                  <c:pt idx="2">
                    <c:v>Linear SVM</c:v>
                  </c:pt>
                  <c:pt idx="3">
                    <c:v>Softmax</c:v>
                  </c:pt>
                  <c:pt idx="4">
                    <c:v>Two-layer NN</c:v>
                  </c:pt>
                </c:lvl>
              </c:multiLvlStrCache>
            </c:multiLvlStrRef>
          </c:cat>
          <c:val>
            <c:numRef>
              <c:f>Sheet1!$B$2:$B$6</c:f>
              <c:numCache>
                <c:formatCode>General</c:formatCode>
                <c:ptCount val="5"/>
                <c:pt idx="0">
                  <c:v>61.12</c:v>
                </c:pt>
                <c:pt idx="1">
                  <c:v>100</c:v>
                </c:pt>
                <c:pt idx="2">
                  <c:v>93.63</c:v>
                </c:pt>
                <c:pt idx="3">
                  <c:v>75.97</c:v>
                </c:pt>
                <c:pt idx="4">
                  <c:v>99.1</c:v>
                </c:pt>
              </c:numCache>
            </c:numRef>
          </c:val>
        </c:ser>
        <c:ser>
          <c:idx val="1"/>
          <c:order val="1"/>
          <c:tx>
            <c:strRef>
              <c:f>Sheet1!$C$1</c:f>
              <c:strCache>
                <c:ptCount val="1"/>
                <c:pt idx="0">
                  <c:v>Validation accuracy</c:v>
                </c:pt>
              </c:strCache>
            </c:strRef>
          </c:tx>
          <c:spPr>
            <a:solidFill>
              <a:srgbClr val="F59E0B"/>
            </a:solidFill>
            <a:effectLst/>
          </c:spPr>
          <c:invertIfNegative val="0"/>
          <c:dLbls>
            <c:numFmt formatCode="0.0" sourceLinked="0"/>
            <c:txPr>
              <a:bodyPr/>
              <a:lstStyle/>
              <a:p>
                <a:pPr>
                  <a:defRPr b="0" i="0" strike="noStrike" sz="1000" u="none">
                    <a:solidFill>
                      <a:srgbClr val="111827"/>
                    </a:solidFill>
                    <a:latin typeface="+mn-lt"/>
                  </a:defRPr>
                </a:pPr>
              </a:p>
            </c:txPr>
            <c:showLegendKey val="0"/>
            <c:showVal val="1"/>
            <c:showCatName val="0"/>
            <c:showSerName val="0"/>
            <c:showPercent val="0"/>
            <c:showBubbleSize val="0"/>
            <c:showLeaderLines val="0"/>
          </c:dLbls>
          <c:cat>
            <c:multiLvlStrRef>
              <c:f>Sheet1!$A$2:$A$6</c:f>
              <c:multiLvlStrCache>
                <c:ptCount val="5"/>
                <c:lvl>
                  <c:pt idx="0">
                    <c:v>Naive Bayes</c:v>
                  </c:pt>
                  <c:pt idx="1">
                    <c:v>Decision Tree</c:v>
                  </c:pt>
                  <c:pt idx="2">
                    <c:v>Linear SVM</c:v>
                  </c:pt>
                  <c:pt idx="3">
                    <c:v>Softmax</c:v>
                  </c:pt>
                  <c:pt idx="4">
                    <c:v>Two-layer NN</c:v>
                  </c:pt>
                </c:lvl>
              </c:multiLvlStrCache>
            </c:multiLvlStrRef>
          </c:cat>
          <c:val>
            <c:numRef>
              <c:f>Sheet1!$C$2:$C$6</c:f>
              <c:numCache>
                <c:formatCode>General</c:formatCode>
                <c:ptCount val="5"/>
                <c:pt idx="0">
                  <c:v>32.61</c:v>
                </c:pt>
                <c:pt idx="1">
                  <c:v>29.66</c:v>
                </c:pt>
                <c:pt idx="2">
                  <c:v>45.39</c:v>
                </c:pt>
                <c:pt idx="3">
                  <c:v>41.93</c:v>
                </c:pt>
                <c:pt idx="4">
                  <c:v>51.55</c:v>
                </c:pt>
              </c:numCache>
            </c:numRef>
          </c:val>
        </c:ser>
        <c:dLbls>
          <c:numFmt formatCode="0.0" sourceLinked="0"/>
          <c:txPr>
            <a:bodyPr/>
            <a:lstStyle/>
            <a:p>
              <a:pPr>
                <a:defRPr b="0" i="0" strike="noStrike" sz="1000" u="none">
                  <a:solidFill>
                    <a:srgbClr val="11182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solidFill>
                <a:srgbClr val="334155"/>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11827"/>
                </a:solidFill>
                <a:latin typeface="+mn-lt"/>
              </a:defRPr>
            </a:pPr>
            <a:r>
              <a:rPr sz="1200" b="0" i="0" u="none" strike="noStrike">
                <a:solidFill>
                  <a:srgbClr val="111827"/>
                </a:solidFill>
                <a:latin typeface="+mn-lt"/>
              </a:rPr>
              <a:t>Per-class accuracy, driver-wise (%)</a:t>
            </a:r>
          </a:p>
        </c:rich>
      </c:tx>
      <c:layout/>
      <c:overlay val="0"/>
    </c:title>
    <c:autoTitleDeleted val="0"/>
    <c:plotArea>
      <c:layout/>
      <c:barChart>
        <c:barDir val="bar"/>
        <c:grouping val="clustered"/>
        <c:varyColors val="0"/>
        <c:ser>
          <c:idx val="0"/>
          <c:order val="0"/>
          <c:tx>
            <c:strRef>
              <c:f>Sheet1!$B$1</c:f>
              <c:strCache>
                <c:ptCount val="1"/>
                <c:pt idx="0">
                  <c:v>Accuracy</c:v>
                </c:pt>
              </c:strCache>
            </c:strRef>
          </c:tx>
          <c:spPr>
            <a:solidFill>
              <a:srgbClr val="0D9488"/>
            </a:solidFill>
            <a:effectLst/>
          </c:spPr>
          <c:invertIfNegative val="0"/>
          <c:dLbls>
            <c:numFmt formatCode="0.0" sourceLinked="0"/>
            <c:txPr>
              <a:bodyPr/>
              <a:lstStyle/>
              <a:p>
                <a:pPr>
                  <a:defRPr b="0" i="0" strike="noStrike" sz="900" u="none">
                    <a:solidFill>
                      <a:srgbClr val="111827"/>
                    </a:solidFill>
                    <a:latin typeface="+mn-lt"/>
                  </a:defRPr>
                </a:pPr>
              </a:p>
            </c:txPr>
            <c:showLegendKey val="0"/>
            <c:showVal val="1"/>
            <c:showCatName val="0"/>
            <c:showSerName val="0"/>
            <c:showPercent val="0"/>
            <c:showBubbleSize val="0"/>
            <c:showLeaderLines val="0"/>
          </c:dLbls>
          <c:cat>
            <c:multiLvlStrRef>
              <c:f>Sheet1!$A$2:$A$11</c:f>
              <c:multiLvlStrCache>
                <c:ptCount val="10"/>
                <c:lvl>
                  <c:pt idx="0">
                    <c:v>Operating radio</c:v>
                  </c:pt>
                  <c:pt idx="1">
                    <c:v>Reaching behind</c:v>
                  </c:pt>
                  <c:pt idx="2">
                    <c:v>Texting - left</c:v>
                  </c:pt>
                  <c:pt idx="3">
                    <c:v>Safe driving</c:v>
                  </c:pt>
                  <c:pt idx="4">
                    <c:v>Phone - left</c:v>
                  </c:pt>
                  <c:pt idx="5">
                    <c:v>Drinking</c:v>
                  </c:pt>
                  <c:pt idx="6">
                    <c:v>Hair and makeup</c:v>
                  </c:pt>
                  <c:pt idx="7">
                    <c:v>Texting - right</c:v>
                  </c:pt>
                  <c:pt idx="8">
                    <c:v>Phone - right</c:v>
                  </c:pt>
                  <c:pt idx="9">
                    <c:v>Talk to passenger</c:v>
                  </c:pt>
                </c:lvl>
              </c:multiLvlStrCache>
            </c:multiLvlStrRef>
          </c:cat>
          <c:val>
            <c:numRef>
              <c:f>Sheet1!$B$2:$B$11</c:f>
              <c:numCache>
                <c:formatCode>General</c:formatCode>
                <c:ptCount val="10"/>
                <c:pt idx="0">
                  <c:v>73.29</c:v>
                </c:pt>
                <c:pt idx="1">
                  <c:v>73.08</c:v>
                </c:pt>
                <c:pt idx="2">
                  <c:v>68.96</c:v>
                </c:pt>
                <c:pt idx="3">
                  <c:v>61.1</c:v>
                </c:pt>
                <c:pt idx="4">
                  <c:v>47.38</c:v>
                </c:pt>
                <c:pt idx="5">
                  <c:v>47.2</c:v>
                </c:pt>
                <c:pt idx="6">
                  <c:v>46.69</c:v>
                </c:pt>
                <c:pt idx="7">
                  <c:v>43.53</c:v>
                </c:pt>
                <c:pt idx="8">
                  <c:v>33.83</c:v>
                </c:pt>
                <c:pt idx="9">
                  <c:v>16.67</c:v>
                </c:pt>
              </c:numCache>
            </c:numRef>
          </c:val>
        </c:ser>
        <c:dLbls>
          <c:numFmt formatCode="0.0" sourceLinked="0"/>
          <c:txPr>
            <a:bodyPr/>
            <a:lstStyle/>
            <a:p>
              <a:pPr>
                <a:defRPr b="0" i="0" strike="noStrike" sz="900" u="none">
                  <a:solidFill>
                    <a:srgbClr val="111827"/>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problem in one sentence: given one in-cabin image, predict the driver's activity (10 classes). We re-implemented the CS229 report by Feng &amp; Yue and extended it with a stricter test: unseen drivers. Roadmap: problem and data, pre-processing, the five models, training and verification, results, best-model analysis, conclusions and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10 classes (c0 safe driving, c1-c9 distractions). Stress the two parts of our question: (1) compare five models, (2) test whether accuracy survives on new drivers. The second part is what we added on top of the reference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of the whole project: the dataset has 26 drivers and each contributes thousands of near-identical frames. A random split puts the same person in train and validation, so a model can memorise people. The driver-wise split fixes that: 21 drivers train, 5 drivers validate, zero overlap. We report both so the results can be compared with the reference paper (random) and also show the honest number (driver-wise).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Resizing to 64x64 is a trade-off: it makes from-scratch training feasible but loses fine detail (phone versus hand). Subtracting the training mean image centres the data, which helps gradient descent. The mean is computed on the training split only to avoid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row by row, one sentence each. SVM and softmax share the same linear scores W x + b and differ only in the loss: hinge versus cross-entropy. The neural net adds one hidden ReLU layer of 100 units so it can learn non-linear features; parameter count is 12,288*100 + 100 + 100*10 + 10 = 1,229,910. Naive Bayes fits a Gaussian per pixel and class and assumes pixels are independent, which is clearly false for images. The decision tree uses scikit-learn defaults, so it grows until it fits every training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points. (1) Training: plain mini-batch SGD for 2,000 iterations, fixed seed, He initialisation for the network. (2) Tuning: grid search over learning rate and regularisation, scored on an inner split carved out of the training set, so the validation set is used once for the final number. Note the best learning rate for the SVM differs between protocols. (3) Verification: we compared our analytic gradients to numerical gradients and the maximum error is around 1e-10, so the from-scratch maths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chart in two steps. Teal bars (random split): ranking is NN 98.0, SVM 95.3, tree 89.1, softmax 71.4, Naive Bayes 55.2, which beats or matches the reference paper. Amber bars (driver-wise split): every model falls, from 98 to 52 for the best one. The neural network is still best, but the decision tree falls the furthest, from 89 to 30. Our SVM is much higher than the paper's 71.4 because we tuned the learning rate and regularisation by grid search and fixed the initialisation.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explains the previous slide. Gray bars are training accuracy, amber bars are accuracy on unseen drivers. A model with a huge gap is learning who the driver is (clothes, face, car interior) instead of what they are doing, which is easy because frames from one driver are near-duplicates. The tree is the extreme case: 100% train, 29.7% validation. Be honest about the limitation: the validation set has only 5 drivers and we ran one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Confusion matrix on the driver-wise split for the best model. Strong diagonal for reaching behind, operating the radio and texting-left. The weak spot is the c8 column: the network pushes uncertain right-hand-near-face images into 'hair and makeup'. Phone-right, texting-right, drinking and hair/makeup all share the same pose (right hand near the face) and at 64x64 the object in the hand is only a few pixels. Talk-to-passenger is worst at 16.7% because it has no distinctive object, only head orientation.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findings, then the honest limitations. Then do the live demo: open distracted_driver_detection.ipynb, scroll to section 8, run the cell. It loads results_driver/model_nn.npz plus the saved mean image, shows the image, prints the prediction and top-3 probabilities. Have one image from a class the model handles well (e.g. reaching behind, operating the radio) ready as backup, and be ready to explain a wrong prediction using the confusion matrix. Repo: github.com/Arya-677/ML_miniProject_sem5.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11827"/>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800" b="1" dirty="0">
                <a:solidFill>
                  <a:srgbClr val="111827"/>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txBox="1"/>
          <p:nvPr/>
        </p:nvSpPr>
        <p:spPr>
          <a:xfrm>
            <a:off x="457200" y="4800600"/>
            <a:ext cx="5943600" cy="2286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UE24CS352A  |  Distracted Driver Detection  |  Problem #24</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rgbClr val="11182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9-1.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lass-dot-0"/>
          <p:cNvSpPr/>
          <p:nvPr/>
        </p:nvSpPr>
        <p:spPr>
          <a:xfrm>
            <a:off x="548640" y="640080"/>
            <a:ext cx="182880" cy="182880"/>
          </a:xfrm>
          <a:prstGeom prst="ellipse">
            <a:avLst/>
          </a:prstGeom>
          <a:solidFill>
            <a:srgbClr val="0D9488"/>
          </a:solidFill>
          <a:ln w="12700">
            <a:solidFill>
              <a:srgbClr val="0D9488"/>
            </a:solidFill>
            <a:prstDash val="solid"/>
          </a:ln>
        </p:spPr>
      </p:sp>
      <p:sp>
        <p:nvSpPr>
          <p:cNvPr id="3" name="class-dot-1"/>
          <p:cNvSpPr/>
          <p:nvPr/>
        </p:nvSpPr>
        <p:spPr>
          <a:xfrm>
            <a:off x="859536" y="640080"/>
            <a:ext cx="182880" cy="182880"/>
          </a:xfrm>
          <a:prstGeom prst="ellipse">
            <a:avLst/>
          </a:prstGeom>
          <a:solidFill>
            <a:srgbClr val="F59E0B"/>
          </a:solidFill>
          <a:ln w="12700">
            <a:solidFill>
              <a:srgbClr val="F59E0B"/>
            </a:solidFill>
            <a:prstDash val="solid"/>
          </a:ln>
        </p:spPr>
      </p:sp>
      <p:sp>
        <p:nvSpPr>
          <p:cNvPr id="4" name="class-dot-2"/>
          <p:cNvSpPr/>
          <p:nvPr/>
        </p:nvSpPr>
        <p:spPr>
          <a:xfrm>
            <a:off x="1170432" y="640080"/>
            <a:ext cx="182880" cy="182880"/>
          </a:xfrm>
          <a:prstGeom prst="ellipse">
            <a:avLst/>
          </a:prstGeom>
          <a:solidFill>
            <a:srgbClr val="F59E0B"/>
          </a:solidFill>
          <a:ln w="12700">
            <a:solidFill>
              <a:srgbClr val="F59E0B"/>
            </a:solidFill>
            <a:prstDash val="solid"/>
          </a:ln>
        </p:spPr>
      </p:sp>
      <p:sp>
        <p:nvSpPr>
          <p:cNvPr id="5" name="class-dot-3"/>
          <p:cNvSpPr/>
          <p:nvPr/>
        </p:nvSpPr>
        <p:spPr>
          <a:xfrm>
            <a:off x="1481328" y="640080"/>
            <a:ext cx="182880" cy="182880"/>
          </a:xfrm>
          <a:prstGeom prst="ellipse">
            <a:avLst/>
          </a:prstGeom>
          <a:solidFill>
            <a:srgbClr val="F59E0B"/>
          </a:solidFill>
          <a:ln w="12700">
            <a:solidFill>
              <a:srgbClr val="F59E0B"/>
            </a:solidFill>
            <a:prstDash val="solid"/>
          </a:ln>
        </p:spPr>
      </p:sp>
      <p:sp>
        <p:nvSpPr>
          <p:cNvPr id="6" name="class-dot-4"/>
          <p:cNvSpPr/>
          <p:nvPr/>
        </p:nvSpPr>
        <p:spPr>
          <a:xfrm>
            <a:off x="1792224" y="640080"/>
            <a:ext cx="182880" cy="182880"/>
          </a:xfrm>
          <a:prstGeom prst="ellipse">
            <a:avLst/>
          </a:prstGeom>
          <a:solidFill>
            <a:srgbClr val="F59E0B"/>
          </a:solidFill>
          <a:ln w="12700">
            <a:solidFill>
              <a:srgbClr val="F59E0B"/>
            </a:solidFill>
            <a:prstDash val="solid"/>
          </a:ln>
        </p:spPr>
      </p:sp>
      <p:sp>
        <p:nvSpPr>
          <p:cNvPr id="7" name="class-dot-5"/>
          <p:cNvSpPr/>
          <p:nvPr/>
        </p:nvSpPr>
        <p:spPr>
          <a:xfrm>
            <a:off x="2103120" y="640080"/>
            <a:ext cx="182880" cy="182880"/>
          </a:xfrm>
          <a:prstGeom prst="ellipse">
            <a:avLst/>
          </a:prstGeom>
          <a:solidFill>
            <a:srgbClr val="F59E0B"/>
          </a:solidFill>
          <a:ln w="12700">
            <a:solidFill>
              <a:srgbClr val="F59E0B"/>
            </a:solidFill>
            <a:prstDash val="solid"/>
          </a:ln>
        </p:spPr>
      </p:sp>
      <p:sp>
        <p:nvSpPr>
          <p:cNvPr id="8" name="class-dot-6"/>
          <p:cNvSpPr/>
          <p:nvPr/>
        </p:nvSpPr>
        <p:spPr>
          <a:xfrm>
            <a:off x="2414016" y="640080"/>
            <a:ext cx="182880" cy="182880"/>
          </a:xfrm>
          <a:prstGeom prst="ellipse">
            <a:avLst/>
          </a:prstGeom>
          <a:solidFill>
            <a:srgbClr val="F59E0B"/>
          </a:solidFill>
          <a:ln w="12700">
            <a:solidFill>
              <a:srgbClr val="F59E0B"/>
            </a:solidFill>
            <a:prstDash val="solid"/>
          </a:ln>
        </p:spPr>
      </p:sp>
      <p:sp>
        <p:nvSpPr>
          <p:cNvPr id="9" name="class-dot-7"/>
          <p:cNvSpPr/>
          <p:nvPr/>
        </p:nvSpPr>
        <p:spPr>
          <a:xfrm>
            <a:off x="2724912" y="640080"/>
            <a:ext cx="182880" cy="182880"/>
          </a:xfrm>
          <a:prstGeom prst="ellipse">
            <a:avLst/>
          </a:prstGeom>
          <a:solidFill>
            <a:srgbClr val="F59E0B"/>
          </a:solidFill>
          <a:ln w="12700">
            <a:solidFill>
              <a:srgbClr val="F59E0B"/>
            </a:solidFill>
            <a:prstDash val="solid"/>
          </a:ln>
        </p:spPr>
      </p:sp>
      <p:sp>
        <p:nvSpPr>
          <p:cNvPr id="10" name="class-dot-8"/>
          <p:cNvSpPr/>
          <p:nvPr/>
        </p:nvSpPr>
        <p:spPr>
          <a:xfrm>
            <a:off x="3035808" y="640080"/>
            <a:ext cx="182880" cy="182880"/>
          </a:xfrm>
          <a:prstGeom prst="ellipse">
            <a:avLst/>
          </a:prstGeom>
          <a:solidFill>
            <a:srgbClr val="F59E0B"/>
          </a:solidFill>
          <a:ln w="12700">
            <a:solidFill>
              <a:srgbClr val="F59E0B"/>
            </a:solidFill>
            <a:prstDash val="solid"/>
          </a:ln>
        </p:spPr>
      </p:sp>
      <p:sp>
        <p:nvSpPr>
          <p:cNvPr id="11" name="class-dot-9"/>
          <p:cNvSpPr/>
          <p:nvPr/>
        </p:nvSpPr>
        <p:spPr>
          <a:xfrm>
            <a:off x="3346704" y="640080"/>
            <a:ext cx="182880" cy="182880"/>
          </a:xfrm>
          <a:prstGeom prst="ellipse">
            <a:avLst/>
          </a:prstGeom>
          <a:solidFill>
            <a:srgbClr val="F59E0B"/>
          </a:solidFill>
          <a:ln w="12700">
            <a:solidFill>
              <a:srgbClr val="F59E0B"/>
            </a:solidFill>
            <a:prstDash val="solid"/>
          </a:ln>
        </p:spPr>
      </p:sp>
      <p:sp>
        <p:nvSpPr>
          <p:cNvPr id="12" name="Text 10"/>
          <p:cNvSpPr txBox="1"/>
          <p:nvPr/>
        </p:nvSpPr>
        <p:spPr>
          <a:xfrm>
            <a:off x="3840480" y="603504"/>
            <a:ext cx="4572000" cy="256032"/>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10 classes: 1 safe, 9 distractions</a:t>
            </a:r>
            <a:endParaRPr lang="en-US" sz="1200" dirty="0"/>
          </a:p>
        </p:txBody>
      </p:sp>
      <p:sp>
        <p:nvSpPr>
          <p:cNvPr id="13" name="Text 11"/>
          <p:cNvSpPr txBox="1"/>
          <p:nvPr/>
        </p:nvSpPr>
        <p:spPr>
          <a:xfrm>
            <a:off x="548640" y="1371600"/>
            <a:ext cx="804672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Distracted Driver Detection</a:t>
            </a:r>
            <a:endParaRPr lang="en-US" sz="4400" dirty="0"/>
          </a:p>
        </p:txBody>
      </p:sp>
      <p:sp>
        <p:nvSpPr>
          <p:cNvPr id="14" name="Text 12"/>
          <p:cNvSpPr txBox="1"/>
          <p:nvPr/>
        </p:nvSpPr>
        <p:spPr>
          <a:xfrm>
            <a:off x="548640" y="2286000"/>
            <a:ext cx="6949440" cy="822960"/>
          </a:xfrm>
          <a:prstGeom prst="rect">
            <a:avLst/>
          </a:prstGeom>
          <a:noFill/>
          <a:ln/>
        </p:spPr>
        <p:txBody>
          <a:bodyPr wrap="square" lIns="0" tIns="0" rIns="0" bIns="0" rtlCol="0" anchor="t"/>
          <a:lstStyle/>
          <a:p>
            <a:pPr indent="0" marL="0">
              <a:buNone/>
            </a:pPr>
            <a:r>
              <a:rPr lang="en-US" sz="1800" dirty="0">
                <a:solidFill>
                  <a:srgbClr val="CBD5E1"/>
                </a:solidFill>
                <a:latin typeface="Calibri" pitchFamily="34" charset="0"/>
                <a:ea typeface="Calibri" pitchFamily="34" charset="-122"/>
                <a:cs typeface="Calibri" pitchFamily="34" charset="-120"/>
              </a:rPr>
              <a:t>Can simple models on raw pixels recognise what a driver is doing, even for drivers they have never seen?</a:t>
            </a:r>
            <a:endParaRPr lang="en-US" sz="1800" dirty="0"/>
          </a:p>
        </p:txBody>
      </p:sp>
      <p:sp>
        <p:nvSpPr>
          <p:cNvPr id="15" name="title-card"/>
          <p:cNvSpPr/>
          <p:nvPr/>
        </p:nvSpPr>
        <p:spPr>
          <a:xfrm>
            <a:off x="548640" y="3429000"/>
            <a:ext cx="8046720" cy="1097280"/>
          </a:xfrm>
          <a:prstGeom prst="roundRect">
            <a:avLst>
              <a:gd name="adj" fmla="val 6667"/>
            </a:avLst>
          </a:prstGeom>
          <a:solidFill>
            <a:srgbClr val="1F2937"/>
          </a:solidFill>
          <a:ln w="12700">
            <a:solidFill>
              <a:srgbClr val="1F2937"/>
            </a:solidFill>
            <a:prstDash val="solid"/>
          </a:ln>
        </p:spPr>
      </p:sp>
      <p:sp>
        <p:nvSpPr>
          <p:cNvPr id="16" name="Text 14"/>
          <p:cNvSpPr txBox="1"/>
          <p:nvPr/>
        </p:nvSpPr>
        <p:spPr>
          <a:xfrm>
            <a:off x="822960" y="3547872"/>
            <a:ext cx="7498080" cy="868680"/>
          </a:xfrm>
          <a:prstGeom prst="rect">
            <a:avLst/>
          </a:prstGeom>
          <a:noFill/>
          <a:ln/>
        </p:spPr>
        <p:txBody>
          <a:bodyPr wrap="square" lIns="0" tIns="0" rIns="0" bIns="0" rtlCol="0" anchor="ctr"/>
          <a:lstStyle/>
          <a:p>
            <a:pPr indent="0" marL="0">
              <a:spcAft>
                <a:spcPts val="300"/>
              </a:spcAft>
              <a:buNone/>
            </a:pPr>
            <a:r>
              <a:rPr lang="en-US" sz="1400" b="1" dirty="0">
                <a:solidFill>
                  <a:srgbClr val="F59E0B"/>
                </a:solidFill>
                <a:latin typeface="Calibri" pitchFamily="34" charset="0"/>
                <a:ea typeface="Calibri" pitchFamily="34" charset="-122"/>
                <a:cs typeface="Calibri" pitchFamily="34" charset="-120"/>
              </a:rPr>
              <a:t>UE24CS352A Machine Learning  |  Mini-Project  |  Problem #24</a:t>
            </a:r>
            <a:endParaRPr lang="en-US" sz="1400" dirty="0"/>
          </a:p>
          <a:p>
            <a:pPr indent="0" marL="0">
              <a:spcAft>
                <a:spcPts val="300"/>
              </a:spcAft>
              <a:buNone/>
            </a:pPr>
            <a:r>
              <a:rPr lang="en-US" sz="1400" dirty="0">
                <a:solidFill>
                  <a:srgbClr val="FFFFFF"/>
                </a:solidFill>
                <a:latin typeface="Calibri" pitchFamily="34" charset="0"/>
                <a:ea typeface="Calibri" pitchFamily="34" charset="-122"/>
                <a:cs typeface="Calibri" pitchFamily="34" charset="-120"/>
              </a:rPr>
              <a:t>Arya Devang (PES1UG24AM054)   |   Ananthakrishna (PES1UG24AM036)</a:t>
            </a:r>
            <a:endParaRPr lang="en-US" sz="1400" dirty="0"/>
          </a:p>
          <a:p>
            <a:pPr indent="0" marL="0">
              <a:spcAft>
                <a:spcPts val="300"/>
              </a:spcAft>
              <a:buNone/>
            </a:pPr>
            <a:r>
              <a:rPr lang="en-US" sz="1400" dirty="0">
                <a:solidFill>
                  <a:srgbClr val="94A3B8"/>
                </a:solidFill>
                <a:latin typeface="Calibri" pitchFamily="34" charset="0"/>
                <a:ea typeface="Calibri" pitchFamily="34" charset="-122"/>
                <a:cs typeface="Calibri" pitchFamily="34" charset="-120"/>
              </a:rPr>
              <a:t>github.com/Arya-677/ML_miniProject_sem5</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rgbClr val="111827"/>
                </a:solidFill>
                <a:latin typeface="Cambria" pitchFamily="34" charset="0"/>
                <a:ea typeface="Cambria" pitchFamily="34" charset="-122"/>
                <a:cs typeface="Cambria" pitchFamily="34" charset="-120"/>
              </a:rPr>
              <a:t>One image in, one of 10 activities out</a:t>
            </a:r>
            <a:endParaRPr lang="en-US" sz="2800" dirty="0"/>
          </a:p>
        </p:txBody>
      </p:sp>
      <p:sp>
        <p:nvSpPr>
          <p:cNvPr id="3" name="Text 1"/>
          <p:cNvSpPr txBox="1"/>
          <p:nvPr/>
        </p:nvSpPr>
        <p:spPr>
          <a:xfrm>
            <a:off x="457200" y="1143000"/>
            <a:ext cx="3749040" cy="2468880"/>
          </a:xfrm>
          <a:prstGeom prst="rect">
            <a:avLst/>
          </a:prstGeom>
          <a:noFill/>
          <a:ln/>
        </p:spPr>
        <p:txBody>
          <a:bodyPr wrap="square" lIns="0" tIns="0" rIns="0" bIns="0" rtlCol="0" anchor="t"/>
          <a:lstStyle/>
          <a:p>
            <a:pPr indent="0" marL="0">
              <a:buNone/>
            </a:pPr>
            <a:r>
              <a:rPr lang="en-US" sz="1400" b="1" dirty="0">
                <a:solidFill>
                  <a:srgbClr val="0D9488"/>
                </a:solidFill>
                <a:latin typeface="Calibri" pitchFamily="34" charset="0"/>
                <a:ea typeface="Calibri" pitchFamily="34" charset="-122"/>
                <a:cs typeface="Calibri" pitchFamily="34" charset="-120"/>
              </a:rPr>
              <a:t>Task</a:t>
            </a:r>
            <a:endParaRPr lang="en-US" sz="1400" dirty="0"/>
          </a:p>
          <a:p>
            <a:pPr indent="0" marL="0">
              <a:spcAft>
                <a:spcPts val="1000"/>
              </a:spcAft>
              <a:buNone/>
            </a:pPr>
            <a:r>
              <a:rPr lang="en-US" sz="1400" dirty="0">
                <a:solidFill>
                  <a:srgbClr val="111827"/>
                </a:solidFill>
                <a:latin typeface="Calibri" pitchFamily="34" charset="0"/>
                <a:ea typeface="Calibri" pitchFamily="34" charset="-122"/>
                <a:cs typeface="Calibri" pitchFamily="34" charset="-120"/>
              </a:rPr>
              <a:t>Given a single in-cabin camera frame, classify the driver's activity.</a:t>
            </a:r>
            <a:endParaRPr lang="en-US" sz="1400" dirty="0"/>
          </a:p>
          <a:p>
            <a:pPr indent="0" marL="0">
              <a:buNone/>
            </a:pPr>
            <a:r>
              <a:rPr lang="en-US" sz="1400" b="1" dirty="0">
                <a:solidFill>
                  <a:srgbClr val="0D9488"/>
                </a:solidFill>
                <a:latin typeface="Calibri" pitchFamily="34" charset="0"/>
                <a:ea typeface="Calibri" pitchFamily="34" charset="-122"/>
                <a:cs typeface="Calibri" pitchFamily="34" charset="-120"/>
              </a:rPr>
              <a:t>Why it matters</a:t>
            </a:r>
            <a:endParaRPr lang="en-US" sz="1400" dirty="0"/>
          </a:p>
          <a:p>
            <a:pPr indent="0" marL="0">
              <a:spcAft>
                <a:spcPts val="1000"/>
              </a:spcAft>
              <a:buNone/>
            </a:pPr>
            <a:r>
              <a:rPr lang="en-US" sz="1400" dirty="0">
                <a:solidFill>
                  <a:srgbClr val="111827"/>
                </a:solidFill>
                <a:latin typeface="Calibri" pitchFamily="34" charset="0"/>
                <a:ea typeface="Calibri" pitchFamily="34" charset="-122"/>
                <a:cs typeface="Calibri" pitchFamily="34" charset="-120"/>
              </a:rPr>
              <a:t>Distracted driving contributes to serious crashes, and different activities carry different risk.</a:t>
            </a:r>
            <a:endParaRPr lang="en-US" sz="1400" dirty="0"/>
          </a:p>
          <a:p>
            <a:pPr indent="0" marL="0">
              <a:buNone/>
            </a:pPr>
            <a:r>
              <a:rPr lang="en-US" sz="1400" b="1" dirty="0">
                <a:solidFill>
                  <a:srgbClr val="0D9488"/>
                </a:solidFill>
                <a:latin typeface="Calibri" pitchFamily="34" charset="0"/>
                <a:ea typeface="Calibri" pitchFamily="34" charset="-122"/>
                <a:cs typeface="Calibri" pitchFamily="34" charset="-120"/>
              </a:rPr>
              <a:t>Basis</a:t>
            </a:r>
            <a:endParaRPr lang="en-US" sz="1400" dirty="0"/>
          </a:p>
          <a:p>
            <a:pPr indent="0" marL="0">
              <a:buNone/>
            </a:pPr>
            <a:r>
              <a:rPr lang="en-US" sz="1400" dirty="0">
                <a:solidFill>
                  <a:srgbClr val="111827"/>
                </a:solidFill>
                <a:latin typeface="Calibri" pitchFamily="34" charset="0"/>
                <a:ea typeface="Calibri" pitchFamily="34" charset="-122"/>
                <a:cs typeface="Calibri" pitchFamily="34" charset="-120"/>
              </a:rPr>
              <a:t>Re-implementation of the CS229 report (Feng &amp; Yue, 2019): five classifiers on raw pixels.</a:t>
            </a:r>
            <a:endParaRPr lang="en-US" sz="1400" dirty="0"/>
          </a:p>
        </p:txBody>
      </p:sp>
      <p:sp>
        <p:nvSpPr>
          <p:cNvPr id="4" name="class-chip-0"/>
          <p:cNvSpPr/>
          <p:nvPr/>
        </p:nvSpPr>
        <p:spPr>
          <a:xfrm>
            <a:off x="4526280" y="1143000"/>
            <a:ext cx="2011680" cy="420624"/>
          </a:xfrm>
          <a:prstGeom prst="roundRect">
            <a:avLst>
              <a:gd name="adj" fmla="val 17391"/>
            </a:avLst>
          </a:prstGeom>
          <a:solidFill>
            <a:srgbClr val="0D9488"/>
          </a:solidFill>
          <a:ln w="12700">
            <a:solidFill>
              <a:srgbClr val="0D9488"/>
            </a:solidFill>
            <a:prstDash val="solid"/>
          </a:ln>
        </p:spPr>
      </p:sp>
      <p:sp>
        <p:nvSpPr>
          <p:cNvPr id="5" name="Text 3"/>
          <p:cNvSpPr txBox="1"/>
          <p:nvPr/>
        </p:nvSpPr>
        <p:spPr>
          <a:xfrm>
            <a:off x="4636008" y="1143000"/>
            <a:ext cx="1828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c0  </a:t>
            </a:r>
            <a:pPr indent="0" marL="0">
              <a:buNone/>
            </a:pPr>
            <a:r>
              <a:rPr lang="en-US" sz="1200" dirty="0">
                <a:solidFill>
                  <a:srgbClr val="FFFFFF"/>
                </a:solidFill>
                <a:latin typeface="Calibri" pitchFamily="34" charset="0"/>
                <a:ea typeface="Calibri" pitchFamily="34" charset="-122"/>
                <a:cs typeface="Calibri" pitchFamily="34" charset="-120"/>
              </a:rPr>
              <a:t>Safe driving</a:t>
            </a:r>
            <a:endParaRPr lang="en-US" sz="1200" dirty="0"/>
          </a:p>
        </p:txBody>
      </p:sp>
      <p:sp>
        <p:nvSpPr>
          <p:cNvPr id="6" name="class-chip-1"/>
          <p:cNvSpPr/>
          <p:nvPr/>
        </p:nvSpPr>
        <p:spPr>
          <a:xfrm>
            <a:off x="6629400" y="1143000"/>
            <a:ext cx="2011680" cy="420624"/>
          </a:xfrm>
          <a:prstGeom prst="roundRect">
            <a:avLst>
              <a:gd name="adj" fmla="val 17391"/>
            </a:avLst>
          </a:prstGeom>
          <a:solidFill>
            <a:srgbClr val="F1F5F9"/>
          </a:solidFill>
          <a:ln w="12700">
            <a:solidFill>
              <a:srgbClr val="F1F5F9"/>
            </a:solidFill>
            <a:prstDash val="solid"/>
          </a:ln>
        </p:spPr>
      </p:sp>
      <p:sp>
        <p:nvSpPr>
          <p:cNvPr id="7" name="Text 5"/>
          <p:cNvSpPr txBox="1"/>
          <p:nvPr/>
        </p:nvSpPr>
        <p:spPr>
          <a:xfrm>
            <a:off x="6739128" y="1143000"/>
            <a:ext cx="1828800" cy="420624"/>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c1  </a:t>
            </a:r>
            <a:pPr indent="0" marL="0">
              <a:buNone/>
            </a:pPr>
            <a:r>
              <a:rPr lang="en-US" sz="1200" dirty="0">
                <a:solidFill>
                  <a:srgbClr val="111827"/>
                </a:solidFill>
                <a:latin typeface="Calibri" pitchFamily="34" charset="0"/>
                <a:ea typeface="Calibri" pitchFamily="34" charset="-122"/>
                <a:cs typeface="Calibri" pitchFamily="34" charset="-120"/>
              </a:rPr>
              <a:t>Texting - right</a:t>
            </a:r>
            <a:endParaRPr lang="en-US" sz="1200" dirty="0"/>
          </a:p>
        </p:txBody>
      </p:sp>
      <p:sp>
        <p:nvSpPr>
          <p:cNvPr id="8" name="class-chip-2"/>
          <p:cNvSpPr/>
          <p:nvPr/>
        </p:nvSpPr>
        <p:spPr>
          <a:xfrm>
            <a:off x="4526280" y="1655064"/>
            <a:ext cx="2011680" cy="420624"/>
          </a:xfrm>
          <a:prstGeom prst="roundRect">
            <a:avLst>
              <a:gd name="adj" fmla="val 17391"/>
            </a:avLst>
          </a:prstGeom>
          <a:solidFill>
            <a:srgbClr val="F1F5F9"/>
          </a:solidFill>
          <a:ln w="12700">
            <a:solidFill>
              <a:srgbClr val="F1F5F9"/>
            </a:solidFill>
            <a:prstDash val="solid"/>
          </a:ln>
        </p:spPr>
      </p:sp>
      <p:sp>
        <p:nvSpPr>
          <p:cNvPr id="9" name="Text 7"/>
          <p:cNvSpPr txBox="1"/>
          <p:nvPr/>
        </p:nvSpPr>
        <p:spPr>
          <a:xfrm>
            <a:off x="4636008" y="1655064"/>
            <a:ext cx="1828800" cy="420624"/>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c2  </a:t>
            </a:r>
            <a:pPr indent="0" marL="0">
              <a:buNone/>
            </a:pPr>
            <a:r>
              <a:rPr lang="en-US" sz="1200" dirty="0">
                <a:solidFill>
                  <a:srgbClr val="111827"/>
                </a:solidFill>
                <a:latin typeface="Calibri" pitchFamily="34" charset="0"/>
                <a:ea typeface="Calibri" pitchFamily="34" charset="-122"/>
                <a:cs typeface="Calibri" pitchFamily="34" charset="-120"/>
              </a:rPr>
              <a:t>Phone - right</a:t>
            </a:r>
            <a:endParaRPr lang="en-US" sz="1200" dirty="0"/>
          </a:p>
        </p:txBody>
      </p:sp>
      <p:sp>
        <p:nvSpPr>
          <p:cNvPr id="10" name="class-chip-3"/>
          <p:cNvSpPr/>
          <p:nvPr/>
        </p:nvSpPr>
        <p:spPr>
          <a:xfrm>
            <a:off x="6629400" y="1655064"/>
            <a:ext cx="2011680" cy="420624"/>
          </a:xfrm>
          <a:prstGeom prst="roundRect">
            <a:avLst>
              <a:gd name="adj" fmla="val 17391"/>
            </a:avLst>
          </a:prstGeom>
          <a:solidFill>
            <a:srgbClr val="F1F5F9"/>
          </a:solidFill>
          <a:ln w="12700">
            <a:solidFill>
              <a:srgbClr val="F1F5F9"/>
            </a:solidFill>
            <a:prstDash val="solid"/>
          </a:ln>
        </p:spPr>
      </p:sp>
      <p:sp>
        <p:nvSpPr>
          <p:cNvPr id="11" name="Text 9"/>
          <p:cNvSpPr txBox="1"/>
          <p:nvPr/>
        </p:nvSpPr>
        <p:spPr>
          <a:xfrm>
            <a:off x="6739128" y="1655064"/>
            <a:ext cx="1828800" cy="420624"/>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c3  </a:t>
            </a:r>
            <a:pPr indent="0" marL="0">
              <a:buNone/>
            </a:pPr>
            <a:r>
              <a:rPr lang="en-US" sz="1200" dirty="0">
                <a:solidFill>
                  <a:srgbClr val="111827"/>
                </a:solidFill>
                <a:latin typeface="Calibri" pitchFamily="34" charset="0"/>
                <a:ea typeface="Calibri" pitchFamily="34" charset="-122"/>
                <a:cs typeface="Calibri" pitchFamily="34" charset="-120"/>
              </a:rPr>
              <a:t>Texting - left</a:t>
            </a:r>
            <a:endParaRPr lang="en-US" sz="1200" dirty="0"/>
          </a:p>
        </p:txBody>
      </p:sp>
      <p:sp>
        <p:nvSpPr>
          <p:cNvPr id="12" name="class-chip-4"/>
          <p:cNvSpPr/>
          <p:nvPr/>
        </p:nvSpPr>
        <p:spPr>
          <a:xfrm>
            <a:off x="4526280" y="2167128"/>
            <a:ext cx="2011680" cy="420624"/>
          </a:xfrm>
          <a:prstGeom prst="roundRect">
            <a:avLst>
              <a:gd name="adj" fmla="val 17391"/>
            </a:avLst>
          </a:prstGeom>
          <a:solidFill>
            <a:srgbClr val="F1F5F9"/>
          </a:solidFill>
          <a:ln w="12700">
            <a:solidFill>
              <a:srgbClr val="F1F5F9"/>
            </a:solidFill>
            <a:prstDash val="solid"/>
          </a:ln>
        </p:spPr>
      </p:sp>
      <p:sp>
        <p:nvSpPr>
          <p:cNvPr id="13" name="Text 11"/>
          <p:cNvSpPr txBox="1"/>
          <p:nvPr/>
        </p:nvSpPr>
        <p:spPr>
          <a:xfrm>
            <a:off x="4636008" y="2167128"/>
            <a:ext cx="1828800" cy="420624"/>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c4  </a:t>
            </a:r>
            <a:pPr indent="0" marL="0">
              <a:buNone/>
            </a:pPr>
            <a:r>
              <a:rPr lang="en-US" sz="1200" dirty="0">
                <a:solidFill>
                  <a:srgbClr val="111827"/>
                </a:solidFill>
                <a:latin typeface="Calibri" pitchFamily="34" charset="0"/>
                <a:ea typeface="Calibri" pitchFamily="34" charset="-122"/>
                <a:cs typeface="Calibri" pitchFamily="34" charset="-120"/>
              </a:rPr>
              <a:t>Phone - left</a:t>
            </a:r>
            <a:endParaRPr lang="en-US" sz="1200" dirty="0"/>
          </a:p>
        </p:txBody>
      </p:sp>
      <p:sp>
        <p:nvSpPr>
          <p:cNvPr id="14" name="class-chip-5"/>
          <p:cNvSpPr/>
          <p:nvPr/>
        </p:nvSpPr>
        <p:spPr>
          <a:xfrm>
            <a:off x="6629400" y="2167128"/>
            <a:ext cx="2011680" cy="420624"/>
          </a:xfrm>
          <a:prstGeom prst="roundRect">
            <a:avLst>
              <a:gd name="adj" fmla="val 17391"/>
            </a:avLst>
          </a:prstGeom>
          <a:solidFill>
            <a:srgbClr val="F1F5F9"/>
          </a:solidFill>
          <a:ln w="12700">
            <a:solidFill>
              <a:srgbClr val="F1F5F9"/>
            </a:solidFill>
            <a:prstDash val="solid"/>
          </a:ln>
        </p:spPr>
      </p:sp>
      <p:sp>
        <p:nvSpPr>
          <p:cNvPr id="15" name="Text 13"/>
          <p:cNvSpPr txBox="1"/>
          <p:nvPr/>
        </p:nvSpPr>
        <p:spPr>
          <a:xfrm>
            <a:off x="6739128" y="2167128"/>
            <a:ext cx="1828800" cy="420624"/>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c5  </a:t>
            </a:r>
            <a:pPr indent="0" marL="0">
              <a:buNone/>
            </a:pPr>
            <a:r>
              <a:rPr lang="en-US" sz="1200" dirty="0">
                <a:solidFill>
                  <a:srgbClr val="111827"/>
                </a:solidFill>
                <a:latin typeface="Calibri" pitchFamily="34" charset="0"/>
                <a:ea typeface="Calibri" pitchFamily="34" charset="-122"/>
                <a:cs typeface="Calibri" pitchFamily="34" charset="-120"/>
              </a:rPr>
              <a:t>Operating radio</a:t>
            </a:r>
            <a:endParaRPr lang="en-US" sz="1200" dirty="0"/>
          </a:p>
        </p:txBody>
      </p:sp>
      <p:sp>
        <p:nvSpPr>
          <p:cNvPr id="16" name="class-chip-6"/>
          <p:cNvSpPr/>
          <p:nvPr/>
        </p:nvSpPr>
        <p:spPr>
          <a:xfrm>
            <a:off x="4526280" y="2679192"/>
            <a:ext cx="2011680" cy="420624"/>
          </a:xfrm>
          <a:prstGeom prst="roundRect">
            <a:avLst>
              <a:gd name="adj" fmla="val 17391"/>
            </a:avLst>
          </a:prstGeom>
          <a:solidFill>
            <a:srgbClr val="F1F5F9"/>
          </a:solidFill>
          <a:ln w="12700">
            <a:solidFill>
              <a:srgbClr val="F1F5F9"/>
            </a:solidFill>
            <a:prstDash val="solid"/>
          </a:ln>
        </p:spPr>
      </p:sp>
      <p:sp>
        <p:nvSpPr>
          <p:cNvPr id="17" name="Text 15"/>
          <p:cNvSpPr txBox="1"/>
          <p:nvPr/>
        </p:nvSpPr>
        <p:spPr>
          <a:xfrm>
            <a:off x="4636008" y="2679192"/>
            <a:ext cx="1828800" cy="420624"/>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c6  </a:t>
            </a:r>
            <a:pPr indent="0" marL="0">
              <a:buNone/>
            </a:pPr>
            <a:r>
              <a:rPr lang="en-US" sz="1200" dirty="0">
                <a:solidFill>
                  <a:srgbClr val="111827"/>
                </a:solidFill>
                <a:latin typeface="Calibri" pitchFamily="34" charset="0"/>
                <a:ea typeface="Calibri" pitchFamily="34" charset="-122"/>
                <a:cs typeface="Calibri" pitchFamily="34" charset="-120"/>
              </a:rPr>
              <a:t>Drinking</a:t>
            </a:r>
            <a:endParaRPr lang="en-US" sz="1200" dirty="0"/>
          </a:p>
        </p:txBody>
      </p:sp>
      <p:sp>
        <p:nvSpPr>
          <p:cNvPr id="18" name="class-chip-7"/>
          <p:cNvSpPr/>
          <p:nvPr/>
        </p:nvSpPr>
        <p:spPr>
          <a:xfrm>
            <a:off x="6629400" y="2679192"/>
            <a:ext cx="2011680" cy="420624"/>
          </a:xfrm>
          <a:prstGeom prst="roundRect">
            <a:avLst>
              <a:gd name="adj" fmla="val 17391"/>
            </a:avLst>
          </a:prstGeom>
          <a:solidFill>
            <a:srgbClr val="F1F5F9"/>
          </a:solidFill>
          <a:ln w="12700">
            <a:solidFill>
              <a:srgbClr val="F1F5F9"/>
            </a:solidFill>
            <a:prstDash val="solid"/>
          </a:ln>
        </p:spPr>
      </p:sp>
      <p:sp>
        <p:nvSpPr>
          <p:cNvPr id="19" name="Text 17"/>
          <p:cNvSpPr txBox="1"/>
          <p:nvPr/>
        </p:nvSpPr>
        <p:spPr>
          <a:xfrm>
            <a:off x="6739128" y="2679192"/>
            <a:ext cx="1828800" cy="420624"/>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c7  </a:t>
            </a:r>
            <a:pPr indent="0" marL="0">
              <a:buNone/>
            </a:pPr>
            <a:r>
              <a:rPr lang="en-US" sz="1200" dirty="0">
                <a:solidFill>
                  <a:srgbClr val="111827"/>
                </a:solidFill>
                <a:latin typeface="Calibri" pitchFamily="34" charset="0"/>
                <a:ea typeface="Calibri" pitchFamily="34" charset="-122"/>
                <a:cs typeface="Calibri" pitchFamily="34" charset="-120"/>
              </a:rPr>
              <a:t>Reaching behind</a:t>
            </a:r>
            <a:endParaRPr lang="en-US" sz="1200" dirty="0"/>
          </a:p>
        </p:txBody>
      </p:sp>
      <p:sp>
        <p:nvSpPr>
          <p:cNvPr id="20" name="class-chip-8"/>
          <p:cNvSpPr/>
          <p:nvPr/>
        </p:nvSpPr>
        <p:spPr>
          <a:xfrm>
            <a:off x="4526280" y="3191256"/>
            <a:ext cx="2011680" cy="420624"/>
          </a:xfrm>
          <a:prstGeom prst="roundRect">
            <a:avLst>
              <a:gd name="adj" fmla="val 17391"/>
            </a:avLst>
          </a:prstGeom>
          <a:solidFill>
            <a:srgbClr val="F1F5F9"/>
          </a:solidFill>
          <a:ln w="12700">
            <a:solidFill>
              <a:srgbClr val="F1F5F9"/>
            </a:solidFill>
            <a:prstDash val="solid"/>
          </a:ln>
        </p:spPr>
      </p:sp>
      <p:sp>
        <p:nvSpPr>
          <p:cNvPr id="21" name="Text 19"/>
          <p:cNvSpPr txBox="1"/>
          <p:nvPr/>
        </p:nvSpPr>
        <p:spPr>
          <a:xfrm>
            <a:off x="4636008" y="3191256"/>
            <a:ext cx="1828800" cy="420624"/>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c8  </a:t>
            </a:r>
            <a:pPr indent="0" marL="0">
              <a:buNone/>
            </a:pPr>
            <a:r>
              <a:rPr lang="en-US" sz="1200" dirty="0">
                <a:solidFill>
                  <a:srgbClr val="111827"/>
                </a:solidFill>
                <a:latin typeface="Calibri" pitchFamily="34" charset="0"/>
                <a:ea typeface="Calibri" pitchFamily="34" charset="-122"/>
                <a:cs typeface="Calibri" pitchFamily="34" charset="-120"/>
              </a:rPr>
              <a:t>Hair and makeup</a:t>
            </a:r>
            <a:endParaRPr lang="en-US" sz="1200" dirty="0"/>
          </a:p>
        </p:txBody>
      </p:sp>
      <p:sp>
        <p:nvSpPr>
          <p:cNvPr id="22" name="class-chip-9"/>
          <p:cNvSpPr/>
          <p:nvPr/>
        </p:nvSpPr>
        <p:spPr>
          <a:xfrm>
            <a:off x="6629400" y="3191256"/>
            <a:ext cx="2011680" cy="420624"/>
          </a:xfrm>
          <a:prstGeom prst="roundRect">
            <a:avLst>
              <a:gd name="adj" fmla="val 17391"/>
            </a:avLst>
          </a:prstGeom>
          <a:solidFill>
            <a:srgbClr val="F1F5F9"/>
          </a:solidFill>
          <a:ln w="12700">
            <a:solidFill>
              <a:srgbClr val="F1F5F9"/>
            </a:solidFill>
            <a:prstDash val="solid"/>
          </a:ln>
        </p:spPr>
      </p:sp>
      <p:sp>
        <p:nvSpPr>
          <p:cNvPr id="23" name="Text 21"/>
          <p:cNvSpPr txBox="1"/>
          <p:nvPr/>
        </p:nvSpPr>
        <p:spPr>
          <a:xfrm>
            <a:off x="6739128" y="3191256"/>
            <a:ext cx="1828800" cy="420624"/>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c9  </a:t>
            </a:r>
            <a:pPr indent="0" marL="0">
              <a:buNone/>
            </a:pPr>
            <a:r>
              <a:rPr lang="en-US" sz="1200" dirty="0">
                <a:solidFill>
                  <a:srgbClr val="111827"/>
                </a:solidFill>
                <a:latin typeface="Calibri" pitchFamily="34" charset="0"/>
                <a:ea typeface="Calibri" pitchFamily="34" charset="-122"/>
                <a:cs typeface="Calibri" pitchFamily="34" charset="-120"/>
              </a:rPr>
              <a:t>Talk to passenger</a:t>
            </a:r>
            <a:endParaRPr lang="en-US" sz="1200" dirty="0"/>
          </a:p>
        </p:txBody>
      </p:sp>
      <p:sp>
        <p:nvSpPr>
          <p:cNvPr id="24" name="question-card"/>
          <p:cNvSpPr/>
          <p:nvPr/>
        </p:nvSpPr>
        <p:spPr>
          <a:xfrm>
            <a:off x="457200" y="3840480"/>
            <a:ext cx="8229600" cy="777240"/>
          </a:xfrm>
          <a:prstGeom prst="roundRect">
            <a:avLst>
              <a:gd name="adj" fmla="val 9412"/>
            </a:avLst>
          </a:prstGeom>
          <a:solidFill>
            <a:srgbClr val="111827"/>
          </a:solidFill>
          <a:ln w="12700">
            <a:solidFill>
              <a:srgbClr val="111827"/>
            </a:solidFill>
            <a:prstDash val="solid"/>
          </a:ln>
        </p:spPr>
      </p:sp>
      <p:sp>
        <p:nvSpPr>
          <p:cNvPr id="25" name="Text 23"/>
          <p:cNvSpPr txBox="1"/>
          <p:nvPr/>
        </p:nvSpPr>
        <p:spPr>
          <a:xfrm>
            <a:off x="685800" y="3840480"/>
            <a:ext cx="7772400" cy="777240"/>
          </a:xfrm>
          <a:prstGeom prst="rect">
            <a:avLst/>
          </a:prstGeom>
          <a:noFill/>
          <a:ln/>
        </p:spPr>
        <p:txBody>
          <a:bodyPr wrap="square" lIns="0" tIns="0" rIns="0" bIns="0" rtlCol="0" anchor="ctr"/>
          <a:lstStyle/>
          <a:p>
            <a:pPr indent="0" marL="0">
              <a:buNone/>
            </a:pPr>
            <a:r>
              <a:rPr lang="en-US" sz="1500" b="1" dirty="0">
                <a:solidFill>
                  <a:srgbClr val="F59E0B"/>
                </a:solidFill>
                <a:latin typeface="Calibri" pitchFamily="34" charset="0"/>
                <a:ea typeface="Calibri" pitchFamily="34" charset="-122"/>
                <a:cs typeface="Calibri" pitchFamily="34" charset="-120"/>
              </a:rPr>
              <a:t>Our question:  </a:t>
            </a:r>
            <a:pPr indent="0" marL="0">
              <a:buNone/>
            </a:pPr>
            <a:r>
              <a:rPr lang="en-US" sz="1500" dirty="0">
                <a:solidFill>
                  <a:srgbClr val="FFFFFF"/>
                </a:solidFill>
                <a:latin typeface="Calibri" pitchFamily="34" charset="0"/>
                <a:ea typeface="Calibri" pitchFamily="34" charset="-122"/>
                <a:cs typeface="Calibri" pitchFamily="34" charset="-120"/>
              </a:rPr>
              <a:t>how well do simple models work on raw pixels, and does that accuracy hold for drivers the model has never seen?</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rgbClr val="111827"/>
                </a:solidFill>
                <a:latin typeface="Cambria" pitchFamily="34" charset="0"/>
                <a:ea typeface="Cambria" pitchFamily="34" charset="-122"/>
                <a:cs typeface="Cambria" pitchFamily="34" charset="-120"/>
              </a:rPr>
              <a:t>State Farm data, and two ways to split it</a:t>
            </a:r>
            <a:endParaRPr lang="en-US" sz="2800" dirty="0"/>
          </a:p>
        </p:txBody>
      </p:sp>
      <p:sp>
        <p:nvSpPr>
          <p:cNvPr id="3" name="stat-0"/>
          <p:cNvSpPr/>
          <p:nvPr/>
        </p:nvSpPr>
        <p:spPr>
          <a:xfrm>
            <a:off x="457200" y="1097280"/>
            <a:ext cx="1920240" cy="868680"/>
          </a:xfrm>
          <a:prstGeom prst="roundRect">
            <a:avLst>
              <a:gd name="adj" fmla="val 8421"/>
            </a:avLst>
          </a:prstGeom>
          <a:solidFill>
            <a:srgbClr val="F1F5F9"/>
          </a:solidFill>
          <a:ln w="12700">
            <a:solidFill>
              <a:srgbClr val="F1F5F9"/>
            </a:solidFill>
            <a:prstDash val="solid"/>
          </a:ln>
        </p:spPr>
      </p:sp>
      <p:sp>
        <p:nvSpPr>
          <p:cNvPr id="4" name="Text 2"/>
          <p:cNvSpPr txBox="1"/>
          <p:nvPr/>
        </p:nvSpPr>
        <p:spPr>
          <a:xfrm>
            <a:off x="457200" y="1143000"/>
            <a:ext cx="1920240" cy="457200"/>
          </a:xfrm>
          <a:prstGeom prst="rect">
            <a:avLst/>
          </a:prstGeom>
          <a:noFill/>
          <a:ln/>
        </p:spPr>
        <p:txBody>
          <a:bodyPr wrap="square" lIns="0" tIns="0" rIns="0" bIns="0" rtlCol="0" anchor="ctr"/>
          <a:lstStyle/>
          <a:p>
            <a:pPr algn="ctr" indent="0" marL="0">
              <a:buNone/>
            </a:pPr>
            <a:r>
              <a:rPr lang="en-US" sz="2600" b="1" dirty="0">
                <a:solidFill>
                  <a:srgbClr val="0D9488"/>
                </a:solidFill>
                <a:latin typeface="Cambria" pitchFamily="34" charset="0"/>
                <a:ea typeface="Cambria" pitchFamily="34" charset="-122"/>
                <a:cs typeface="Cambria" pitchFamily="34" charset="-120"/>
              </a:rPr>
              <a:t>22,424</a:t>
            </a:r>
            <a:endParaRPr lang="en-US" sz="2600" dirty="0"/>
          </a:p>
        </p:txBody>
      </p:sp>
      <p:sp>
        <p:nvSpPr>
          <p:cNvPr id="5" name="Text 3"/>
          <p:cNvSpPr txBox="1"/>
          <p:nvPr/>
        </p:nvSpPr>
        <p:spPr>
          <a:xfrm>
            <a:off x="457200" y="1600200"/>
            <a:ext cx="1920240" cy="27432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labelled images</a:t>
            </a:r>
            <a:endParaRPr lang="en-US" sz="1200" dirty="0"/>
          </a:p>
        </p:txBody>
      </p:sp>
      <p:sp>
        <p:nvSpPr>
          <p:cNvPr id="6" name="stat-1"/>
          <p:cNvSpPr/>
          <p:nvPr/>
        </p:nvSpPr>
        <p:spPr>
          <a:xfrm>
            <a:off x="2542032" y="1097280"/>
            <a:ext cx="1920240" cy="868680"/>
          </a:xfrm>
          <a:prstGeom prst="roundRect">
            <a:avLst>
              <a:gd name="adj" fmla="val 8421"/>
            </a:avLst>
          </a:prstGeom>
          <a:solidFill>
            <a:srgbClr val="F1F5F9"/>
          </a:solidFill>
          <a:ln w="12700">
            <a:solidFill>
              <a:srgbClr val="F1F5F9"/>
            </a:solidFill>
            <a:prstDash val="solid"/>
          </a:ln>
        </p:spPr>
      </p:sp>
      <p:sp>
        <p:nvSpPr>
          <p:cNvPr id="7" name="Text 5"/>
          <p:cNvSpPr txBox="1"/>
          <p:nvPr/>
        </p:nvSpPr>
        <p:spPr>
          <a:xfrm>
            <a:off x="2542032" y="1143000"/>
            <a:ext cx="1920240" cy="457200"/>
          </a:xfrm>
          <a:prstGeom prst="rect">
            <a:avLst/>
          </a:prstGeom>
          <a:noFill/>
          <a:ln/>
        </p:spPr>
        <p:txBody>
          <a:bodyPr wrap="square" lIns="0" tIns="0" rIns="0" bIns="0" rtlCol="0" anchor="ctr"/>
          <a:lstStyle/>
          <a:p>
            <a:pPr algn="ctr" indent="0" marL="0">
              <a:buNone/>
            </a:pPr>
            <a:r>
              <a:rPr lang="en-US" sz="2600" b="1" dirty="0">
                <a:solidFill>
                  <a:srgbClr val="0D9488"/>
                </a:solidFill>
                <a:latin typeface="Cambria" pitchFamily="34" charset="0"/>
                <a:ea typeface="Cambria" pitchFamily="34" charset="-122"/>
                <a:cs typeface="Cambria" pitchFamily="34" charset="-120"/>
              </a:rPr>
              <a:t>10</a:t>
            </a:r>
            <a:endParaRPr lang="en-US" sz="2600" dirty="0"/>
          </a:p>
        </p:txBody>
      </p:sp>
      <p:sp>
        <p:nvSpPr>
          <p:cNvPr id="8" name="Text 6"/>
          <p:cNvSpPr txBox="1"/>
          <p:nvPr/>
        </p:nvSpPr>
        <p:spPr>
          <a:xfrm>
            <a:off x="2542032" y="1600200"/>
            <a:ext cx="1920240" cy="27432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classes</a:t>
            </a:r>
            <a:endParaRPr lang="en-US" sz="1200" dirty="0"/>
          </a:p>
        </p:txBody>
      </p:sp>
      <p:sp>
        <p:nvSpPr>
          <p:cNvPr id="9" name="stat-2"/>
          <p:cNvSpPr/>
          <p:nvPr/>
        </p:nvSpPr>
        <p:spPr>
          <a:xfrm>
            <a:off x="4626864" y="1097280"/>
            <a:ext cx="1920240" cy="868680"/>
          </a:xfrm>
          <a:prstGeom prst="roundRect">
            <a:avLst>
              <a:gd name="adj" fmla="val 8421"/>
            </a:avLst>
          </a:prstGeom>
          <a:solidFill>
            <a:srgbClr val="F1F5F9"/>
          </a:solidFill>
          <a:ln w="12700">
            <a:solidFill>
              <a:srgbClr val="F1F5F9"/>
            </a:solidFill>
            <a:prstDash val="solid"/>
          </a:ln>
        </p:spPr>
      </p:sp>
      <p:sp>
        <p:nvSpPr>
          <p:cNvPr id="10" name="Text 8"/>
          <p:cNvSpPr txBox="1"/>
          <p:nvPr/>
        </p:nvSpPr>
        <p:spPr>
          <a:xfrm>
            <a:off x="4626864" y="1143000"/>
            <a:ext cx="1920240" cy="457200"/>
          </a:xfrm>
          <a:prstGeom prst="rect">
            <a:avLst/>
          </a:prstGeom>
          <a:noFill/>
          <a:ln/>
        </p:spPr>
        <p:txBody>
          <a:bodyPr wrap="square" lIns="0" tIns="0" rIns="0" bIns="0" rtlCol="0" anchor="ctr"/>
          <a:lstStyle/>
          <a:p>
            <a:pPr algn="ctr" indent="0" marL="0">
              <a:buNone/>
            </a:pPr>
            <a:r>
              <a:rPr lang="en-US" sz="2600" b="1" dirty="0">
                <a:solidFill>
                  <a:srgbClr val="0D9488"/>
                </a:solidFill>
                <a:latin typeface="Cambria" pitchFamily="34" charset="0"/>
                <a:ea typeface="Cambria" pitchFamily="34" charset="-122"/>
                <a:cs typeface="Cambria" pitchFamily="34" charset="-120"/>
              </a:rPr>
              <a:t>26</a:t>
            </a:r>
            <a:endParaRPr lang="en-US" sz="2600" dirty="0"/>
          </a:p>
        </p:txBody>
      </p:sp>
      <p:sp>
        <p:nvSpPr>
          <p:cNvPr id="11" name="Text 9"/>
          <p:cNvSpPr txBox="1"/>
          <p:nvPr/>
        </p:nvSpPr>
        <p:spPr>
          <a:xfrm>
            <a:off x="4626864" y="1600200"/>
            <a:ext cx="1920240" cy="27432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drivers</a:t>
            </a:r>
            <a:endParaRPr lang="en-US" sz="1200" dirty="0"/>
          </a:p>
        </p:txBody>
      </p:sp>
      <p:sp>
        <p:nvSpPr>
          <p:cNvPr id="12" name="stat-3"/>
          <p:cNvSpPr/>
          <p:nvPr/>
        </p:nvSpPr>
        <p:spPr>
          <a:xfrm>
            <a:off x="6711696" y="1097280"/>
            <a:ext cx="1920240" cy="868680"/>
          </a:xfrm>
          <a:prstGeom prst="roundRect">
            <a:avLst>
              <a:gd name="adj" fmla="val 8421"/>
            </a:avLst>
          </a:prstGeom>
          <a:solidFill>
            <a:srgbClr val="F1F5F9"/>
          </a:solidFill>
          <a:ln w="12700">
            <a:solidFill>
              <a:srgbClr val="F1F5F9"/>
            </a:solidFill>
            <a:prstDash val="solid"/>
          </a:ln>
        </p:spPr>
      </p:sp>
      <p:sp>
        <p:nvSpPr>
          <p:cNvPr id="13" name="Text 11"/>
          <p:cNvSpPr txBox="1"/>
          <p:nvPr/>
        </p:nvSpPr>
        <p:spPr>
          <a:xfrm>
            <a:off x="6711696" y="1143000"/>
            <a:ext cx="1920240" cy="457200"/>
          </a:xfrm>
          <a:prstGeom prst="rect">
            <a:avLst/>
          </a:prstGeom>
          <a:noFill/>
          <a:ln/>
        </p:spPr>
        <p:txBody>
          <a:bodyPr wrap="square" lIns="0" tIns="0" rIns="0" bIns="0" rtlCol="0" anchor="ctr"/>
          <a:lstStyle/>
          <a:p>
            <a:pPr algn="ctr" indent="0" marL="0">
              <a:buNone/>
            </a:pPr>
            <a:r>
              <a:rPr lang="en-US" sz="2600" b="1" dirty="0">
                <a:solidFill>
                  <a:srgbClr val="0D9488"/>
                </a:solidFill>
                <a:latin typeface="Cambria" pitchFamily="34" charset="0"/>
                <a:ea typeface="Cambria" pitchFamily="34" charset="-122"/>
                <a:cs typeface="Cambria" pitchFamily="34" charset="-120"/>
              </a:rPr>
              <a:t>640x480</a:t>
            </a:r>
            <a:endParaRPr lang="en-US" sz="2600" dirty="0"/>
          </a:p>
        </p:txBody>
      </p:sp>
      <p:sp>
        <p:nvSpPr>
          <p:cNvPr id="14" name="Text 12"/>
          <p:cNvSpPr txBox="1"/>
          <p:nvPr/>
        </p:nvSpPr>
        <p:spPr>
          <a:xfrm>
            <a:off x="6711696" y="1600200"/>
            <a:ext cx="1920240" cy="27432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RGB frames</a:t>
            </a:r>
            <a:endParaRPr lang="en-US" sz="1200" dirty="0"/>
          </a:p>
        </p:txBody>
      </p:sp>
      <p:sp>
        <p:nvSpPr>
          <p:cNvPr id="15" name="random-card"/>
          <p:cNvSpPr/>
          <p:nvPr/>
        </p:nvSpPr>
        <p:spPr>
          <a:xfrm>
            <a:off x="457200" y="2194560"/>
            <a:ext cx="4023360" cy="2011680"/>
          </a:xfrm>
          <a:prstGeom prst="roundRect">
            <a:avLst>
              <a:gd name="adj" fmla="val 3636"/>
            </a:avLst>
          </a:prstGeom>
          <a:solidFill>
            <a:srgbClr val="F1F5F9"/>
          </a:solidFill>
          <a:ln w="12700">
            <a:solidFill>
              <a:srgbClr val="F1F5F9"/>
            </a:solidFill>
            <a:prstDash val="solid"/>
          </a:ln>
        </p:spPr>
      </p:sp>
      <p:sp>
        <p:nvSpPr>
          <p:cNvPr id="16" name="Text 14"/>
          <p:cNvSpPr txBox="1"/>
          <p:nvPr/>
        </p:nvSpPr>
        <p:spPr>
          <a:xfrm>
            <a:off x="640080" y="2286000"/>
            <a:ext cx="3657600" cy="320040"/>
          </a:xfrm>
          <a:prstGeom prst="rect">
            <a:avLst/>
          </a:prstGeom>
          <a:noFill/>
          <a:ln/>
        </p:spPr>
        <p:txBody>
          <a:bodyPr wrap="square" lIns="0" tIns="0" rIns="0" bIns="0" rtlCol="0" anchor="t"/>
          <a:lstStyle/>
          <a:p>
            <a:pPr indent="0" marL="0">
              <a:buNone/>
            </a:pPr>
            <a:r>
              <a:rPr lang="en-US" sz="1600" b="1" dirty="0">
                <a:solidFill>
                  <a:srgbClr val="0D9488"/>
                </a:solidFill>
                <a:latin typeface="Calibri" pitchFamily="34" charset="0"/>
                <a:ea typeface="Calibri" pitchFamily="34" charset="-122"/>
                <a:cs typeface="Calibri" pitchFamily="34" charset="-120"/>
              </a:rPr>
              <a:t>A  Random 80/20 split</a:t>
            </a:r>
            <a:endParaRPr lang="en-US" sz="1600" dirty="0"/>
          </a:p>
        </p:txBody>
      </p:sp>
      <p:sp>
        <p:nvSpPr>
          <p:cNvPr id="17" name="Text 15"/>
          <p:cNvSpPr txBox="1"/>
          <p:nvPr/>
        </p:nvSpPr>
        <p:spPr>
          <a:xfrm>
            <a:off x="640080" y="2651760"/>
            <a:ext cx="3657600" cy="14630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11827"/>
                </a:solidFill>
                <a:latin typeface="Calibri" pitchFamily="34" charset="0"/>
                <a:ea typeface="Calibri" pitchFamily="34" charset="-122"/>
                <a:cs typeface="Calibri" pitchFamily="34" charset="-120"/>
              </a:rPr>
              <a:t>Same protocol as the reference report</a:t>
            </a:r>
            <a:endParaRPr lang="en-US" sz="1300" dirty="0"/>
          </a:p>
          <a:p>
            <a:pPr marL="342900" indent="-342900">
              <a:spcAft>
                <a:spcPts val="400"/>
              </a:spcAft>
              <a:buSzPct val="100000"/>
              <a:buChar char="•"/>
            </a:pPr>
            <a:r>
              <a:rPr lang="en-US" sz="1300" dirty="0">
                <a:solidFill>
                  <a:srgbClr val="111827"/>
                </a:solidFill>
                <a:latin typeface="Calibri" pitchFamily="34" charset="0"/>
                <a:ea typeface="Calibri" pitchFamily="34" charset="-122"/>
                <a:cs typeface="Calibri" pitchFamily="34" charset="-120"/>
              </a:rPr>
              <a:t>17,940 train / 4,484 val</a:t>
            </a:r>
            <a:endParaRPr lang="en-US" sz="1300" dirty="0"/>
          </a:p>
          <a:p>
            <a:pPr marL="342900" indent="-342900">
              <a:spcAft>
                <a:spcPts val="400"/>
              </a:spcAft>
              <a:buSzPct val="100000"/>
              <a:buChar char="•"/>
            </a:pPr>
            <a:r>
              <a:rPr lang="en-US" sz="1300" dirty="0">
                <a:solidFill>
                  <a:srgbClr val="111827"/>
                </a:solidFill>
                <a:latin typeface="Calibri" pitchFamily="34" charset="0"/>
                <a:ea typeface="Calibri" pitchFamily="34" charset="-122"/>
                <a:cs typeface="Calibri" pitchFamily="34" charset="-120"/>
              </a:rPr>
              <a:t>All 26 drivers appear on both sides</a:t>
            </a:r>
            <a:endParaRPr lang="en-US" sz="1300" dirty="0"/>
          </a:p>
          <a:p>
            <a:pPr marL="342900" indent="-342900">
              <a:spcAft>
                <a:spcPts val="400"/>
              </a:spcAft>
              <a:buSzPct val="100000"/>
              <a:buChar char="•"/>
            </a:pPr>
            <a:r>
              <a:rPr lang="en-US" sz="1300" b="1" dirty="0">
                <a:solidFill>
                  <a:srgbClr val="111827"/>
                </a:solidFill>
                <a:latin typeface="Calibri" pitchFamily="34" charset="0"/>
                <a:ea typeface="Calibri" pitchFamily="34" charset="-122"/>
                <a:cs typeface="Calibri" pitchFamily="34" charset="-120"/>
              </a:rPr>
              <a:t>Near-duplicate frames leak across: may be optimistic</a:t>
            </a:r>
            <a:endParaRPr lang="en-US" sz="1300" dirty="0"/>
          </a:p>
        </p:txBody>
      </p:sp>
      <p:sp>
        <p:nvSpPr>
          <p:cNvPr id="18" name="driver-card"/>
          <p:cNvSpPr/>
          <p:nvPr/>
        </p:nvSpPr>
        <p:spPr>
          <a:xfrm>
            <a:off x="4663440" y="2194560"/>
            <a:ext cx="4023360" cy="2011680"/>
          </a:xfrm>
          <a:prstGeom prst="roundRect">
            <a:avLst>
              <a:gd name="adj" fmla="val 3636"/>
            </a:avLst>
          </a:prstGeom>
          <a:solidFill>
            <a:srgbClr val="F1F5F9"/>
          </a:solidFill>
          <a:ln w="12700">
            <a:solidFill>
              <a:srgbClr val="F1F5F9"/>
            </a:solidFill>
            <a:prstDash val="solid"/>
          </a:ln>
        </p:spPr>
      </p:sp>
      <p:sp>
        <p:nvSpPr>
          <p:cNvPr id="19" name="Text 17"/>
          <p:cNvSpPr txBox="1"/>
          <p:nvPr/>
        </p:nvSpPr>
        <p:spPr>
          <a:xfrm>
            <a:off x="4846320" y="2286000"/>
            <a:ext cx="3657600" cy="320040"/>
          </a:xfrm>
          <a:prstGeom prst="rect">
            <a:avLst/>
          </a:prstGeom>
          <a:noFill/>
          <a:ln/>
        </p:spPr>
        <p:txBody>
          <a:bodyPr wrap="square" lIns="0" tIns="0" rIns="0" bIns="0" rtlCol="0" anchor="t"/>
          <a:lstStyle/>
          <a:p>
            <a:pPr indent="0" marL="0">
              <a:buNone/>
            </a:pPr>
            <a:r>
              <a:rPr lang="en-US" sz="1600" b="1" dirty="0">
                <a:solidFill>
                  <a:srgbClr val="B45309"/>
                </a:solidFill>
                <a:latin typeface="Calibri" pitchFamily="34" charset="0"/>
                <a:ea typeface="Calibri" pitchFamily="34" charset="-122"/>
                <a:cs typeface="Calibri" pitchFamily="34" charset="-120"/>
              </a:rPr>
              <a:t>B  Driver-wise 80/20 split</a:t>
            </a:r>
            <a:endParaRPr lang="en-US" sz="1600" dirty="0"/>
          </a:p>
        </p:txBody>
      </p:sp>
      <p:sp>
        <p:nvSpPr>
          <p:cNvPr id="20" name="Text 18"/>
          <p:cNvSpPr txBox="1"/>
          <p:nvPr/>
        </p:nvSpPr>
        <p:spPr>
          <a:xfrm>
            <a:off x="4846320" y="2651760"/>
            <a:ext cx="3657600" cy="14630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11827"/>
                </a:solidFill>
                <a:latin typeface="Calibri" pitchFamily="34" charset="0"/>
                <a:ea typeface="Calibri" pitchFamily="34" charset="-122"/>
                <a:cs typeface="Calibri" pitchFamily="34" charset="-120"/>
              </a:rPr>
              <a:t>Whole drivers held out for validation</a:t>
            </a:r>
            <a:endParaRPr lang="en-US" sz="1300" dirty="0"/>
          </a:p>
          <a:p>
            <a:pPr marL="342900" indent="-342900">
              <a:spcAft>
                <a:spcPts val="400"/>
              </a:spcAft>
              <a:buSzPct val="100000"/>
              <a:buChar char="•"/>
            </a:pPr>
            <a:r>
              <a:rPr lang="en-US" sz="1300" dirty="0">
                <a:solidFill>
                  <a:srgbClr val="111827"/>
                </a:solidFill>
                <a:latin typeface="Calibri" pitchFamily="34" charset="0"/>
                <a:ea typeface="Calibri" pitchFamily="34" charset="-122"/>
                <a:cs typeface="Calibri" pitchFamily="34" charset="-120"/>
              </a:rPr>
              <a:t>17,747 train / 4,677 val</a:t>
            </a:r>
            <a:endParaRPr lang="en-US" sz="1300" dirty="0"/>
          </a:p>
          <a:p>
            <a:pPr marL="342900" indent="-342900">
              <a:spcAft>
                <a:spcPts val="400"/>
              </a:spcAft>
              <a:buSzPct val="100000"/>
              <a:buChar char="•"/>
            </a:pPr>
            <a:r>
              <a:rPr lang="en-US" sz="1300" dirty="0">
                <a:solidFill>
                  <a:srgbClr val="111827"/>
                </a:solidFill>
                <a:latin typeface="Calibri" pitchFamily="34" charset="0"/>
                <a:ea typeface="Calibri" pitchFamily="34" charset="-122"/>
                <a:cs typeface="Calibri" pitchFamily="34" charset="-120"/>
              </a:rPr>
              <a:t>21 train drivers, 5 val drivers, 0 overlap</a:t>
            </a:r>
            <a:endParaRPr lang="en-US" sz="1300" dirty="0"/>
          </a:p>
          <a:p>
            <a:pPr marL="342900" indent="-342900">
              <a:spcAft>
                <a:spcPts val="400"/>
              </a:spcAft>
              <a:buSzPct val="100000"/>
              <a:buChar char="•"/>
            </a:pPr>
            <a:r>
              <a:rPr lang="en-US" sz="1300" b="1" dirty="0">
                <a:solidFill>
                  <a:srgbClr val="111827"/>
                </a:solidFill>
                <a:latin typeface="Calibri" pitchFamily="34" charset="0"/>
                <a:ea typeface="Calibri" pitchFamily="34" charset="-122"/>
                <a:cs typeface="Calibri" pitchFamily="34" charset="-120"/>
              </a:rPr>
              <a:t>Measures real-world generalisation to new people</a:t>
            </a:r>
            <a:endParaRPr lang="en-US" sz="1300" dirty="0"/>
          </a:p>
        </p:txBody>
      </p:sp>
      <p:sp>
        <p:nvSpPr>
          <p:cNvPr id="21" name="Text 19"/>
          <p:cNvSpPr txBox="1"/>
          <p:nvPr/>
        </p:nvSpPr>
        <p:spPr>
          <a:xfrm>
            <a:off x="457200" y="4297680"/>
            <a:ext cx="8229600" cy="411480"/>
          </a:xfrm>
          <a:prstGeom prst="rect">
            <a:avLst/>
          </a:prstGeom>
          <a:noFill/>
          <a:ln/>
        </p:spPr>
        <p:txBody>
          <a:bodyPr wrap="square" lIns="0" tIns="0" rIns="0" bIns="0" rtlCol="0" anchor="t"/>
          <a:lstStyle/>
          <a:p>
            <a:pPr indent="0" marL="0">
              <a:buNone/>
            </a:pPr>
            <a:r>
              <a:rPr lang="en-US" sz="1200" i="1" dirty="0">
                <a:solidFill>
                  <a:srgbClr val="64748B"/>
                </a:solidFill>
                <a:latin typeface="Calibri" pitchFamily="34" charset="0"/>
                <a:ea typeface="Calibri" pitchFamily="34" charset="-122"/>
                <a:cs typeface="Calibri" pitchFamily="34" charset="-120"/>
              </a:rPr>
              <a:t>Why two? Images are video frames, so one driver's frames look almost identical. The official test set is unlabelled, so we hold out 20% of the labelled data.</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rgbClr val="111827"/>
                </a:solidFill>
                <a:latin typeface="Cambria" pitchFamily="34" charset="0"/>
                <a:ea typeface="Cambria" pitchFamily="34" charset="-122"/>
                <a:cs typeface="Cambria" pitchFamily="34" charset="-120"/>
              </a:rPr>
              <a:t>Pre-processing: image to 12,288 numbers</a:t>
            </a:r>
            <a:endParaRPr lang="en-US" sz="2800" dirty="0"/>
          </a:p>
        </p:txBody>
      </p:sp>
      <p:sp>
        <p:nvSpPr>
          <p:cNvPr id="3" name="pipe-0"/>
          <p:cNvSpPr/>
          <p:nvPr/>
        </p:nvSpPr>
        <p:spPr>
          <a:xfrm>
            <a:off x="457200" y="1188720"/>
            <a:ext cx="1463040" cy="1417320"/>
          </a:xfrm>
          <a:prstGeom prst="roundRect">
            <a:avLst>
              <a:gd name="adj" fmla="val 5161"/>
            </a:avLst>
          </a:prstGeom>
          <a:solidFill>
            <a:srgbClr val="F1F5F9"/>
          </a:solidFill>
          <a:ln w="12700">
            <a:solidFill>
              <a:srgbClr val="F1F5F9"/>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457200" y="1280160"/>
            <a:ext cx="1463040" cy="320040"/>
          </a:xfrm>
          <a:prstGeom prst="rect">
            <a:avLst/>
          </a:prstGeom>
          <a:noFill/>
          <a:ln/>
        </p:spPr>
        <p:txBody>
          <a:bodyPr wrap="square" lIns="0" tIns="0" rIns="0" bIns="0" rtlCol="0" anchor="t"/>
          <a:lstStyle/>
          <a:p>
            <a:pPr algn="ctr" indent="0" marL="0">
              <a:buNone/>
            </a:pPr>
            <a:r>
              <a:rPr lang="en-US" sz="1600" b="1" dirty="0">
                <a:solidFill>
                  <a:srgbClr val="111827"/>
                </a:solidFill>
                <a:latin typeface="Cambria" pitchFamily="34" charset="0"/>
                <a:ea typeface="Cambria" pitchFamily="34" charset="-122"/>
                <a:cs typeface="Cambria" pitchFamily="34" charset="-120"/>
              </a:rPr>
              <a:t>Image</a:t>
            </a:r>
            <a:endParaRPr lang="en-US" sz="1600" dirty="0"/>
          </a:p>
        </p:txBody>
      </p:sp>
      <p:sp>
        <p:nvSpPr>
          <p:cNvPr id="5" name="Text 3"/>
          <p:cNvSpPr txBox="1"/>
          <p:nvPr/>
        </p:nvSpPr>
        <p:spPr>
          <a:xfrm>
            <a:off x="502920" y="1645920"/>
            <a:ext cx="1371600" cy="411480"/>
          </a:xfrm>
          <a:prstGeom prst="rect">
            <a:avLst/>
          </a:prstGeom>
          <a:noFill/>
          <a:ln/>
        </p:spPr>
        <p:txBody>
          <a:bodyPr wrap="square" lIns="0" tIns="0" rIns="0" bIns="0" rtlCol="0" anchor="ctr"/>
          <a:lstStyle/>
          <a:p>
            <a:pPr algn="ctr" indent="0" marL="0">
              <a:buNone/>
            </a:pPr>
            <a:r>
              <a:rPr lang="en-US" sz="1300" b="1" dirty="0">
                <a:solidFill>
                  <a:srgbClr val="0D9488"/>
                </a:solidFill>
                <a:latin typeface="Calibri" pitchFamily="34" charset="0"/>
                <a:ea typeface="Calibri" pitchFamily="34" charset="-122"/>
                <a:cs typeface="Calibri" pitchFamily="34" charset="-120"/>
              </a:rPr>
              <a:t>640x480x3</a:t>
            </a:r>
            <a:endParaRPr lang="en-US" sz="1300" dirty="0"/>
          </a:p>
        </p:txBody>
      </p:sp>
      <p:sp>
        <p:nvSpPr>
          <p:cNvPr id="6" name="Text 4"/>
          <p:cNvSpPr txBox="1"/>
          <p:nvPr/>
        </p:nvSpPr>
        <p:spPr>
          <a:xfrm>
            <a:off x="502920" y="2103120"/>
            <a:ext cx="1371600" cy="411480"/>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921,600 values</a:t>
            </a:r>
            <a:endParaRPr lang="en-US" sz="1100" dirty="0"/>
          </a:p>
        </p:txBody>
      </p:sp>
      <p:sp>
        <p:nvSpPr>
          <p:cNvPr id="7" name="Text 5"/>
          <p:cNvSpPr txBox="1"/>
          <p:nvPr/>
        </p:nvSpPr>
        <p:spPr>
          <a:xfrm>
            <a:off x="1920240" y="1691640"/>
            <a:ext cx="219456" cy="365760"/>
          </a:xfrm>
          <a:prstGeom prst="rect">
            <a:avLst/>
          </a:prstGeom>
          <a:noFill/>
          <a:ln/>
        </p:spPr>
        <p:txBody>
          <a:bodyPr wrap="square" lIns="0" tIns="0" rIns="0" bIns="0"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&gt;</a:t>
            </a:r>
            <a:endParaRPr lang="en-US" sz="2000" dirty="0"/>
          </a:p>
        </p:txBody>
      </p:sp>
      <p:sp>
        <p:nvSpPr>
          <p:cNvPr id="8" name="pipe-1"/>
          <p:cNvSpPr/>
          <p:nvPr/>
        </p:nvSpPr>
        <p:spPr>
          <a:xfrm>
            <a:off x="2139696" y="1188720"/>
            <a:ext cx="1463040" cy="1417320"/>
          </a:xfrm>
          <a:prstGeom prst="roundRect">
            <a:avLst>
              <a:gd name="adj" fmla="val 5161"/>
            </a:avLst>
          </a:prstGeom>
          <a:solidFill>
            <a:srgbClr val="0D9488"/>
          </a:solidFill>
          <a:ln w="12700">
            <a:solidFill>
              <a:srgbClr val="0D9488"/>
            </a:solidFill>
            <a:prstDash val="solid"/>
          </a:ln>
          <a:effectLst>
            <a:outerShdw sx="100000" sy="100000" kx="0" ky="0" algn="bl" rotWithShape="0" blurRad="101600" dist="25400" dir="5400000">
              <a:srgbClr val="000000">
                <a:alpha val="12000"/>
              </a:srgbClr>
            </a:outerShdw>
          </a:effectLst>
        </p:spPr>
      </p:sp>
      <p:sp>
        <p:nvSpPr>
          <p:cNvPr id="9" name="Text 7"/>
          <p:cNvSpPr txBox="1"/>
          <p:nvPr/>
        </p:nvSpPr>
        <p:spPr>
          <a:xfrm>
            <a:off x="2139696" y="1280160"/>
            <a:ext cx="1463040" cy="320040"/>
          </a:xfrm>
          <a:prstGeom prst="rect">
            <a:avLst/>
          </a:prstGeom>
          <a:noFill/>
          <a:ln/>
        </p:spPr>
        <p:txBody>
          <a:bodyPr wrap="square" lIns="0" tIns="0" rIns="0" bIns="0" rtlCol="0" anchor="t"/>
          <a:lstStyle/>
          <a:p>
            <a:pPr algn="ctr" indent="0" marL="0">
              <a:buNone/>
            </a:pPr>
            <a:r>
              <a:rPr lang="en-US" sz="1600" b="1" dirty="0">
                <a:solidFill>
                  <a:srgbClr val="FFFFFF"/>
                </a:solidFill>
                <a:latin typeface="Cambria" pitchFamily="34" charset="0"/>
                <a:ea typeface="Cambria" pitchFamily="34" charset="-122"/>
                <a:cs typeface="Cambria" pitchFamily="34" charset="-120"/>
              </a:rPr>
              <a:t>Resize</a:t>
            </a:r>
            <a:endParaRPr lang="en-US" sz="1600" dirty="0"/>
          </a:p>
        </p:txBody>
      </p:sp>
      <p:sp>
        <p:nvSpPr>
          <p:cNvPr id="10" name="Text 8"/>
          <p:cNvSpPr txBox="1"/>
          <p:nvPr/>
        </p:nvSpPr>
        <p:spPr>
          <a:xfrm>
            <a:off x="2185416" y="1645920"/>
            <a:ext cx="137160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64x64x3</a:t>
            </a:r>
            <a:endParaRPr lang="en-US" sz="1300" dirty="0"/>
          </a:p>
        </p:txBody>
      </p:sp>
      <p:sp>
        <p:nvSpPr>
          <p:cNvPr id="11" name="Text 9"/>
          <p:cNvSpPr txBox="1"/>
          <p:nvPr/>
        </p:nvSpPr>
        <p:spPr>
          <a:xfrm>
            <a:off x="2185416" y="2103120"/>
            <a:ext cx="1371600" cy="411480"/>
          </a:xfrm>
          <a:prstGeom prst="rect">
            <a:avLst/>
          </a:prstGeom>
          <a:noFill/>
          <a:ln/>
        </p:spPr>
        <p:txBody>
          <a:bodyPr wrap="square" lIns="0" tIns="0" rIns="0" bIns="0" rtlCol="0" anchor="t"/>
          <a:lstStyle/>
          <a:p>
            <a:pPr algn="ctr" indent="0" marL="0">
              <a:buNone/>
            </a:pPr>
            <a:r>
              <a:rPr lang="en-US" sz="1100" dirty="0">
                <a:solidFill>
                  <a:srgbClr val="E6FFFA"/>
                </a:solidFill>
                <a:latin typeface="Calibri" pitchFamily="34" charset="0"/>
                <a:ea typeface="Calibri" pitchFamily="34" charset="-122"/>
                <a:cs typeface="Calibri" pitchFamily="34" charset="-120"/>
              </a:rPr>
              <a:t>OpenCV, INTER_AREA</a:t>
            </a:r>
            <a:endParaRPr lang="en-US" sz="1100" dirty="0"/>
          </a:p>
        </p:txBody>
      </p:sp>
      <p:sp>
        <p:nvSpPr>
          <p:cNvPr id="12" name="Text 10"/>
          <p:cNvSpPr txBox="1"/>
          <p:nvPr/>
        </p:nvSpPr>
        <p:spPr>
          <a:xfrm>
            <a:off x="3602736" y="1691640"/>
            <a:ext cx="219456" cy="365760"/>
          </a:xfrm>
          <a:prstGeom prst="rect">
            <a:avLst/>
          </a:prstGeom>
          <a:noFill/>
          <a:ln/>
        </p:spPr>
        <p:txBody>
          <a:bodyPr wrap="square" lIns="0" tIns="0" rIns="0" bIns="0"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&gt;</a:t>
            </a:r>
            <a:endParaRPr lang="en-US" sz="2000" dirty="0"/>
          </a:p>
        </p:txBody>
      </p:sp>
      <p:sp>
        <p:nvSpPr>
          <p:cNvPr id="13" name="pipe-2"/>
          <p:cNvSpPr/>
          <p:nvPr/>
        </p:nvSpPr>
        <p:spPr>
          <a:xfrm>
            <a:off x="3822192" y="1188720"/>
            <a:ext cx="1463040" cy="1417320"/>
          </a:xfrm>
          <a:prstGeom prst="roundRect">
            <a:avLst>
              <a:gd name="adj" fmla="val 5161"/>
            </a:avLst>
          </a:prstGeom>
          <a:solidFill>
            <a:srgbClr val="F1F5F9"/>
          </a:solidFill>
          <a:ln w="12700">
            <a:solidFill>
              <a:srgbClr val="F1F5F9"/>
            </a:solidFill>
            <a:prstDash val="solid"/>
          </a:ln>
          <a:effectLst>
            <a:outerShdw sx="100000" sy="100000" kx="0" ky="0" algn="bl" rotWithShape="0" blurRad="101600" dist="25400" dir="5400000">
              <a:srgbClr val="000000">
                <a:alpha val="12000"/>
              </a:srgbClr>
            </a:outerShdw>
          </a:effectLst>
        </p:spPr>
      </p:sp>
      <p:sp>
        <p:nvSpPr>
          <p:cNvPr id="14" name="Text 12"/>
          <p:cNvSpPr txBox="1"/>
          <p:nvPr/>
        </p:nvSpPr>
        <p:spPr>
          <a:xfrm>
            <a:off x="3822192" y="1280160"/>
            <a:ext cx="1463040" cy="320040"/>
          </a:xfrm>
          <a:prstGeom prst="rect">
            <a:avLst/>
          </a:prstGeom>
          <a:noFill/>
          <a:ln/>
        </p:spPr>
        <p:txBody>
          <a:bodyPr wrap="square" lIns="0" tIns="0" rIns="0" bIns="0" rtlCol="0" anchor="t"/>
          <a:lstStyle/>
          <a:p>
            <a:pPr algn="ctr" indent="0" marL="0">
              <a:buNone/>
            </a:pPr>
            <a:r>
              <a:rPr lang="en-US" sz="1600" b="1" dirty="0">
                <a:solidFill>
                  <a:srgbClr val="111827"/>
                </a:solidFill>
                <a:latin typeface="Cambria" pitchFamily="34" charset="0"/>
                <a:ea typeface="Cambria" pitchFamily="34" charset="-122"/>
                <a:cs typeface="Cambria" pitchFamily="34" charset="-120"/>
              </a:rPr>
              <a:t>Flatten</a:t>
            </a:r>
            <a:endParaRPr lang="en-US" sz="1600" dirty="0"/>
          </a:p>
        </p:txBody>
      </p:sp>
      <p:sp>
        <p:nvSpPr>
          <p:cNvPr id="15" name="Text 13"/>
          <p:cNvSpPr txBox="1"/>
          <p:nvPr/>
        </p:nvSpPr>
        <p:spPr>
          <a:xfrm>
            <a:off x="3867912" y="1645920"/>
            <a:ext cx="1371600" cy="411480"/>
          </a:xfrm>
          <a:prstGeom prst="rect">
            <a:avLst/>
          </a:prstGeom>
          <a:noFill/>
          <a:ln/>
        </p:spPr>
        <p:txBody>
          <a:bodyPr wrap="square" lIns="0" tIns="0" rIns="0" bIns="0" rtlCol="0" anchor="ctr"/>
          <a:lstStyle/>
          <a:p>
            <a:pPr algn="ctr" indent="0" marL="0">
              <a:buNone/>
            </a:pPr>
            <a:r>
              <a:rPr lang="en-US" sz="1300" b="1" dirty="0">
                <a:solidFill>
                  <a:srgbClr val="0D9488"/>
                </a:solidFill>
                <a:latin typeface="Calibri" pitchFamily="34" charset="0"/>
                <a:ea typeface="Calibri" pitchFamily="34" charset="-122"/>
                <a:cs typeface="Calibri" pitchFamily="34" charset="-120"/>
              </a:rPr>
              <a:t>12,288-vector</a:t>
            </a:r>
            <a:endParaRPr lang="en-US" sz="1300" dirty="0"/>
          </a:p>
        </p:txBody>
      </p:sp>
      <p:sp>
        <p:nvSpPr>
          <p:cNvPr id="16" name="Text 14"/>
          <p:cNvSpPr txBox="1"/>
          <p:nvPr/>
        </p:nvSpPr>
        <p:spPr>
          <a:xfrm>
            <a:off x="3867912" y="2103120"/>
            <a:ext cx="1371600" cy="411480"/>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one row per image</a:t>
            </a:r>
            <a:endParaRPr lang="en-US" sz="1100" dirty="0"/>
          </a:p>
        </p:txBody>
      </p:sp>
      <p:sp>
        <p:nvSpPr>
          <p:cNvPr id="17" name="Text 15"/>
          <p:cNvSpPr txBox="1"/>
          <p:nvPr/>
        </p:nvSpPr>
        <p:spPr>
          <a:xfrm>
            <a:off x="5285232" y="1691640"/>
            <a:ext cx="219456" cy="365760"/>
          </a:xfrm>
          <a:prstGeom prst="rect">
            <a:avLst/>
          </a:prstGeom>
          <a:noFill/>
          <a:ln/>
        </p:spPr>
        <p:txBody>
          <a:bodyPr wrap="square" lIns="0" tIns="0" rIns="0" bIns="0"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&gt;</a:t>
            </a:r>
            <a:endParaRPr lang="en-US" sz="2000" dirty="0"/>
          </a:p>
        </p:txBody>
      </p:sp>
      <p:sp>
        <p:nvSpPr>
          <p:cNvPr id="18" name="pipe-3"/>
          <p:cNvSpPr/>
          <p:nvPr/>
        </p:nvSpPr>
        <p:spPr>
          <a:xfrm>
            <a:off x="5504688" y="1188720"/>
            <a:ext cx="1463040" cy="1417320"/>
          </a:xfrm>
          <a:prstGeom prst="roundRect">
            <a:avLst>
              <a:gd name="adj" fmla="val 5161"/>
            </a:avLst>
          </a:prstGeom>
          <a:solidFill>
            <a:srgbClr val="0D9488"/>
          </a:solidFill>
          <a:ln w="12700">
            <a:solidFill>
              <a:srgbClr val="0D9488"/>
            </a:solidFill>
            <a:prstDash val="solid"/>
          </a:ln>
          <a:effectLst>
            <a:outerShdw sx="100000" sy="100000" kx="0" ky="0" algn="bl" rotWithShape="0" blurRad="101600" dist="25400" dir="5400000">
              <a:srgbClr val="000000">
                <a:alpha val="12000"/>
              </a:srgbClr>
            </a:outerShdw>
          </a:effectLst>
        </p:spPr>
      </p:sp>
      <p:sp>
        <p:nvSpPr>
          <p:cNvPr id="19" name="Text 17"/>
          <p:cNvSpPr txBox="1"/>
          <p:nvPr/>
        </p:nvSpPr>
        <p:spPr>
          <a:xfrm>
            <a:off x="5504688" y="1280160"/>
            <a:ext cx="1463040" cy="320040"/>
          </a:xfrm>
          <a:prstGeom prst="rect">
            <a:avLst/>
          </a:prstGeom>
          <a:noFill/>
          <a:ln/>
        </p:spPr>
        <p:txBody>
          <a:bodyPr wrap="square" lIns="0" tIns="0" rIns="0" bIns="0" rtlCol="0" anchor="t"/>
          <a:lstStyle/>
          <a:p>
            <a:pPr algn="ctr" indent="0" marL="0">
              <a:buNone/>
            </a:pPr>
            <a:r>
              <a:rPr lang="en-US" sz="1600" b="1" dirty="0">
                <a:solidFill>
                  <a:srgbClr val="FFFFFF"/>
                </a:solidFill>
                <a:latin typeface="Cambria" pitchFamily="34" charset="0"/>
                <a:ea typeface="Cambria" pitchFamily="34" charset="-122"/>
                <a:cs typeface="Cambria" pitchFamily="34" charset="-120"/>
              </a:rPr>
              <a:t>Normalise</a:t>
            </a:r>
            <a:endParaRPr lang="en-US" sz="1600" dirty="0"/>
          </a:p>
        </p:txBody>
      </p:sp>
      <p:sp>
        <p:nvSpPr>
          <p:cNvPr id="20" name="Text 18"/>
          <p:cNvSpPr txBox="1"/>
          <p:nvPr/>
        </p:nvSpPr>
        <p:spPr>
          <a:xfrm>
            <a:off x="5550408" y="1645920"/>
            <a:ext cx="137160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/255, minus mean</a:t>
            </a:r>
            <a:endParaRPr lang="en-US" sz="1300" dirty="0"/>
          </a:p>
        </p:txBody>
      </p:sp>
      <p:sp>
        <p:nvSpPr>
          <p:cNvPr id="21" name="Text 19"/>
          <p:cNvSpPr txBox="1"/>
          <p:nvPr/>
        </p:nvSpPr>
        <p:spPr>
          <a:xfrm>
            <a:off x="5550408" y="2103120"/>
            <a:ext cx="1371600" cy="411480"/>
          </a:xfrm>
          <a:prstGeom prst="rect">
            <a:avLst/>
          </a:prstGeom>
          <a:noFill/>
          <a:ln/>
        </p:spPr>
        <p:txBody>
          <a:bodyPr wrap="square" lIns="0" tIns="0" rIns="0" bIns="0" rtlCol="0" anchor="t"/>
          <a:lstStyle/>
          <a:p>
            <a:pPr algn="ctr" indent="0" marL="0">
              <a:buNone/>
            </a:pPr>
            <a:r>
              <a:rPr lang="en-US" sz="1100" dirty="0">
                <a:solidFill>
                  <a:srgbClr val="E6FFFA"/>
                </a:solidFill>
                <a:latin typeface="Calibri" pitchFamily="34" charset="0"/>
                <a:ea typeface="Calibri" pitchFamily="34" charset="-122"/>
                <a:cs typeface="Calibri" pitchFamily="34" charset="-120"/>
              </a:rPr>
              <a:t>train-set mean image</a:t>
            </a:r>
            <a:endParaRPr lang="en-US" sz="1100" dirty="0"/>
          </a:p>
        </p:txBody>
      </p:sp>
      <p:sp>
        <p:nvSpPr>
          <p:cNvPr id="22" name="Text 20"/>
          <p:cNvSpPr txBox="1"/>
          <p:nvPr/>
        </p:nvSpPr>
        <p:spPr>
          <a:xfrm>
            <a:off x="6967728" y="1691640"/>
            <a:ext cx="219456" cy="365760"/>
          </a:xfrm>
          <a:prstGeom prst="rect">
            <a:avLst/>
          </a:prstGeom>
          <a:noFill/>
          <a:ln/>
        </p:spPr>
        <p:txBody>
          <a:bodyPr wrap="square" lIns="0" tIns="0" rIns="0" bIns="0"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&gt;</a:t>
            </a:r>
            <a:endParaRPr lang="en-US" sz="2000" dirty="0"/>
          </a:p>
        </p:txBody>
      </p:sp>
      <p:sp>
        <p:nvSpPr>
          <p:cNvPr id="23" name="pipe-4"/>
          <p:cNvSpPr/>
          <p:nvPr/>
        </p:nvSpPr>
        <p:spPr>
          <a:xfrm>
            <a:off x="7187184" y="1188720"/>
            <a:ext cx="1463040" cy="1417320"/>
          </a:xfrm>
          <a:prstGeom prst="roundRect">
            <a:avLst>
              <a:gd name="adj" fmla="val 5161"/>
            </a:avLst>
          </a:prstGeom>
          <a:solidFill>
            <a:srgbClr val="F1F5F9"/>
          </a:solidFill>
          <a:ln w="12700">
            <a:solidFill>
              <a:srgbClr val="F1F5F9"/>
            </a:solidFill>
            <a:prstDash val="solid"/>
          </a:ln>
          <a:effectLst>
            <a:outerShdw sx="100000" sy="100000" kx="0" ky="0" algn="bl" rotWithShape="0" blurRad="101600" dist="25400" dir="5400000">
              <a:srgbClr val="000000">
                <a:alpha val="12000"/>
              </a:srgbClr>
            </a:outerShdw>
          </a:effectLst>
        </p:spPr>
      </p:sp>
      <p:sp>
        <p:nvSpPr>
          <p:cNvPr id="24" name="Text 22"/>
          <p:cNvSpPr txBox="1"/>
          <p:nvPr/>
        </p:nvSpPr>
        <p:spPr>
          <a:xfrm>
            <a:off x="7187184" y="1280160"/>
            <a:ext cx="1463040" cy="320040"/>
          </a:xfrm>
          <a:prstGeom prst="rect">
            <a:avLst/>
          </a:prstGeom>
          <a:noFill/>
          <a:ln/>
        </p:spPr>
        <p:txBody>
          <a:bodyPr wrap="square" lIns="0" tIns="0" rIns="0" bIns="0" rtlCol="0" anchor="t"/>
          <a:lstStyle/>
          <a:p>
            <a:pPr algn="ctr" indent="0" marL="0">
              <a:buNone/>
            </a:pPr>
            <a:r>
              <a:rPr lang="en-US" sz="1600" b="1" dirty="0">
                <a:solidFill>
                  <a:srgbClr val="111827"/>
                </a:solidFill>
                <a:latin typeface="Cambria" pitchFamily="34" charset="0"/>
                <a:ea typeface="Cambria" pitchFamily="34" charset="-122"/>
                <a:cs typeface="Cambria" pitchFamily="34" charset="-120"/>
              </a:rPr>
              <a:t>Classifier</a:t>
            </a:r>
            <a:endParaRPr lang="en-US" sz="1600" dirty="0"/>
          </a:p>
        </p:txBody>
      </p:sp>
      <p:sp>
        <p:nvSpPr>
          <p:cNvPr id="25" name="Text 23"/>
          <p:cNvSpPr txBox="1"/>
          <p:nvPr/>
        </p:nvSpPr>
        <p:spPr>
          <a:xfrm>
            <a:off x="7232904" y="1645920"/>
            <a:ext cx="1371600" cy="411480"/>
          </a:xfrm>
          <a:prstGeom prst="rect">
            <a:avLst/>
          </a:prstGeom>
          <a:noFill/>
          <a:ln/>
        </p:spPr>
        <p:txBody>
          <a:bodyPr wrap="square" lIns="0" tIns="0" rIns="0" bIns="0" rtlCol="0" anchor="ctr"/>
          <a:lstStyle/>
          <a:p>
            <a:pPr algn="ctr" indent="0" marL="0">
              <a:buNone/>
            </a:pPr>
            <a:r>
              <a:rPr lang="en-US" sz="1300" b="1" dirty="0">
                <a:solidFill>
                  <a:srgbClr val="0D9488"/>
                </a:solidFill>
                <a:latin typeface="Calibri" pitchFamily="34" charset="0"/>
                <a:ea typeface="Calibri" pitchFamily="34" charset="-122"/>
                <a:cs typeface="Calibri" pitchFamily="34" charset="-120"/>
              </a:rPr>
              <a:t>5 models</a:t>
            </a:r>
            <a:endParaRPr lang="en-US" sz="1300" dirty="0"/>
          </a:p>
        </p:txBody>
      </p:sp>
      <p:sp>
        <p:nvSpPr>
          <p:cNvPr id="26" name="Text 24"/>
          <p:cNvSpPr txBox="1"/>
          <p:nvPr/>
        </p:nvSpPr>
        <p:spPr>
          <a:xfrm>
            <a:off x="7232904" y="2103120"/>
            <a:ext cx="1371600" cy="411480"/>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scores for 10 classes</a:t>
            </a:r>
            <a:endParaRPr lang="en-US" sz="1100" dirty="0"/>
          </a:p>
        </p:txBody>
      </p:sp>
      <p:sp>
        <p:nvSpPr>
          <p:cNvPr id="27" name="why-0"/>
          <p:cNvSpPr/>
          <p:nvPr/>
        </p:nvSpPr>
        <p:spPr>
          <a:xfrm>
            <a:off x="457200" y="2926080"/>
            <a:ext cx="2633472" cy="1600200"/>
          </a:xfrm>
          <a:prstGeom prst="roundRect">
            <a:avLst>
              <a:gd name="adj" fmla="val 4571"/>
            </a:avLst>
          </a:prstGeom>
          <a:solidFill>
            <a:srgbClr val="F1F5F9"/>
          </a:solidFill>
          <a:ln w="12700">
            <a:solidFill>
              <a:srgbClr val="F1F5F9"/>
            </a:solidFill>
            <a:prstDash val="solid"/>
          </a:ln>
        </p:spPr>
      </p:sp>
      <p:sp>
        <p:nvSpPr>
          <p:cNvPr id="28" name="Text 26"/>
          <p:cNvSpPr txBox="1"/>
          <p:nvPr/>
        </p:nvSpPr>
        <p:spPr>
          <a:xfrm>
            <a:off x="640080" y="3017520"/>
            <a:ext cx="2286000" cy="548640"/>
          </a:xfrm>
          <a:prstGeom prst="rect">
            <a:avLst/>
          </a:prstGeom>
          <a:noFill/>
          <a:ln/>
        </p:spPr>
        <p:txBody>
          <a:bodyPr wrap="square" lIns="0" tIns="0" rIns="0" bIns="0" rtlCol="0" anchor="ctr"/>
          <a:lstStyle/>
          <a:p>
            <a:pPr indent="0" marL="0">
              <a:buNone/>
            </a:pPr>
            <a:r>
              <a:rPr lang="en-US" sz="3000" b="1" dirty="0">
                <a:solidFill>
                  <a:srgbClr val="F59E0B"/>
                </a:solidFill>
                <a:latin typeface="Cambria" pitchFamily="34" charset="0"/>
                <a:ea typeface="Cambria" pitchFamily="34" charset="-122"/>
                <a:cs typeface="Cambria" pitchFamily="34" charset="-120"/>
              </a:rPr>
              <a:t>75x</a:t>
            </a:r>
            <a:pPr indent="0" marL="0">
              <a:buNone/>
            </a:pPr>
            <a:r>
              <a:rPr lang="en-US" sz="1400" b="1" dirty="0">
                <a:solidFill>
                  <a:srgbClr val="111827"/>
                </a:solidFill>
                <a:latin typeface="Calibri" pitchFamily="34" charset="0"/>
                <a:ea typeface="Calibri" pitchFamily="34" charset="-122"/>
                <a:cs typeface="Calibri" pitchFamily="34" charset="-120"/>
              </a:rPr>
              <a:t>  fewer inputs</a:t>
            </a:r>
            <a:endParaRPr lang="en-US" sz="3000" dirty="0"/>
          </a:p>
        </p:txBody>
      </p:sp>
      <p:sp>
        <p:nvSpPr>
          <p:cNvPr id="29" name="Text 27"/>
          <p:cNvSpPr txBox="1"/>
          <p:nvPr/>
        </p:nvSpPr>
        <p:spPr>
          <a:xfrm>
            <a:off x="640080" y="3611880"/>
            <a:ext cx="2286000" cy="86868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921,600 down to 12,288 values, small enough for from-scratch NumPy training</a:t>
            </a:r>
            <a:endParaRPr lang="en-US" sz="1200" dirty="0"/>
          </a:p>
        </p:txBody>
      </p:sp>
      <p:sp>
        <p:nvSpPr>
          <p:cNvPr id="30" name="why-1"/>
          <p:cNvSpPr/>
          <p:nvPr/>
        </p:nvSpPr>
        <p:spPr>
          <a:xfrm>
            <a:off x="3255264" y="2926080"/>
            <a:ext cx="2633472" cy="1600200"/>
          </a:xfrm>
          <a:prstGeom prst="roundRect">
            <a:avLst>
              <a:gd name="adj" fmla="val 4571"/>
            </a:avLst>
          </a:prstGeom>
          <a:solidFill>
            <a:srgbClr val="F1F5F9"/>
          </a:solidFill>
          <a:ln w="12700">
            <a:solidFill>
              <a:srgbClr val="F1F5F9"/>
            </a:solidFill>
            <a:prstDash val="solid"/>
          </a:ln>
        </p:spPr>
      </p:sp>
      <p:sp>
        <p:nvSpPr>
          <p:cNvPr id="31" name="Text 29"/>
          <p:cNvSpPr txBox="1"/>
          <p:nvPr/>
        </p:nvSpPr>
        <p:spPr>
          <a:xfrm>
            <a:off x="3438144" y="3017520"/>
            <a:ext cx="2286000" cy="548640"/>
          </a:xfrm>
          <a:prstGeom prst="rect">
            <a:avLst/>
          </a:prstGeom>
          <a:noFill/>
          <a:ln/>
        </p:spPr>
        <p:txBody>
          <a:bodyPr wrap="square" lIns="0" tIns="0" rIns="0" bIns="0" rtlCol="0" anchor="ctr"/>
          <a:lstStyle/>
          <a:p>
            <a:pPr indent="0" marL="0">
              <a:buNone/>
            </a:pPr>
            <a:r>
              <a:rPr lang="en-US" sz="3000" b="1" dirty="0">
                <a:solidFill>
                  <a:srgbClr val="F59E0B"/>
                </a:solidFill>
                <a:latin typeface="Cambria" pitchFamily="34" charset="0"/>
                <a:ea typeface="Cambria" pitchFamily="34" charset="-122"/>
                <a:cs typeface="Cambria" pitchFamily="34" charset="-120"/>
              </a:rPr>
              <a:t>0</a:t>
            </a:r>
            <a:pPr indent="0" marL="0">
              <a:buNone/>
            </a:pPr>
            <a:r>
              <a:rPr lang="en-US" sz="1400" b="1" dirty="0">
                <a:solidFill>
                  <a:srgbClr val="111827"/>
                </a:solidFill>
                <a:latin typeface="Calibri" pitchFamily="34" charset="0"/>
                <a:ea typeface="Calibri" pitchFamily="34" charset="-122"/>
                <a:cs typeface="Calibri" pitchFamily="34" charset="-120"/>
              </a:rPr>
              <a:t>  val. leaks</a:t>
            </a:r>
            <a:endParaRPr lang="en-US" sz="3000" dirty="0"/>
          </a:p>
        </p:txBody>
      </p:sp>
      <p:sp>
        <p:nvSpPr>
          <p:cNvPr id="32" name="Text 30"/>
          <p:cNvSpPr txBox="1"/>
          <p:nvPr/>
        </p:nvSpPr>
        <p:spPr>
          <a:xfrm>
            <a:off x="3438144" y="3611880"/>
            <a:ext cx="2286000" cy="86868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the mean image uses training data only, so validation never influences pre-processing</a:t>
            </a:r>
            <a:endParaRPr lang="en-US" sz="1200" dirty="0"/>
          </a:p>
        </p:txBody>
      </p:sp>
      <p:sp>
        <p:nvSpPr>
          <p:cNvPr id="33" name="why-2"/>
          <p:cNvSpPr/>
          <p:nvPr/>
        </p:nvSpPr>
        <p:spPr>
          <a:xfrm>
            <a:off x="6053328" y="2926080"/>
            <a:ext cx="2633472" cy="1600200"/>
          </a:xfrm>
          <a:prstGeom prst="roundRect">
            <a:avLst>
              <a:gd name="adj" fmla="val 4571"/>
            </a:avLst>
          </a:prstGeom>
          <a:solidFill>
            <a:srgbClr val="F1F5F9"/>
          </a:solidFill>
          <a:ln w="12700">
            <a:solidFill>
              <a:srgbClr val="F1F5F9"/>
            </a:solidFill>
            <a:prstDash val="solid"/>
          </a:ln>
        </p:spPr>
      </p:sp>
      <p:sp>
        <p:nvSpPr>
          <p:cNvPr id="34" name="Text 32"/>
          <p:cNvSpPr txBox="1"/>
          <p:nvPr/>
        </p:nvSpPr>
        <p:spPr>
          <a:xfrm>
            <a:off x="6236208" y="3017520"/>
            <a:ext cx="2286000" cy="548640"/>
          </a:xfrm>
          <a:prstGeom prst="rect">
            <a:avLst/>
          </a:prstGeom>
          <a:noFill/>
          <a:ln/>
        </p:spPr>
        <p:txBody>
          <a:bodyPr wrap="square" lIns="0" tIns="0" rIns="0" bIns="0" rtlCol="0" anchor="ctr"/>
          <a:lstStyle/>
          <a:p>
            <a:pPr indent="0" marL="0">
              <a:buNone/>
            </a:pPr>
            <a:r>
              <a:rPr lang="en-US" sz="3000" b="1" dirty="0">
                <a:solidFill>
                  <a:srgbClr val="F59E0B"/>
                </a:solidFill>
                <a:latin typeface="Cambria" pitchFamily="34" charset="0"/>
                <a:ea typeface="Cambria" pitchFamily="34" charset="-122"/>
                <a:cs typeface="Cambria" pitchFamily="34" charset="-120"/>
              </a:rPr>
              <a:t>1x</a:t>
            </a:r>
            <a:pPr indent="0" marL="0">
              <a:buNone/>
            </a:pPr>
            <a:r>
              <a:rPr lang="en-US" sz="1400" b="1" dirty="0">
                <a:solidFill>
                  <a:srgbClr val="111827"/>
                </a:solidFill>
                <a:latin typeface="Calibri" pitchFamily="34" charset="0"/>
                <a:ea typeface="Calibri" pitchFamily="34" charset="-122"/>
                <a:cs typeface="Calibri" pitchFamily="34" charset="-120"/>
              </a:rPr>
              <a:t>  cached</a:t>
            </a:r>
            <a:endParaRPr lang="en-US" sz="3000" dirty="0"/>
          </a:p>
        </p:txBody>
      </p:sp>
      <p:sp>
        <p:nvSpPr>
          <p:cNvPr id="35" name="Text 33"/>
          <p:cNvSpPr txBox="1"/>
          <p:nvPr/>
        </p:nvSpPr>
        <p:spPr>
          <a:xfrm>
            <a:off x="6236208" y="3611880"/>
            <a:ext cx="2286000" cy="86868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all 22,424 images stored once as .npz, so repeated runs start instantly</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rgbClr val="111827"/>
                </a:solidFill>
                <a:latin typeface="Cambria" pitchFamily="34" charset="0"/>
                <a:ea typeface="Cambria" pitchFamily="34" charset="-122"/>
                <a:cs typeface="Cambria" pitchFamily="34" charset="-120"/>
              </a:rPr>
              <a:t>Five models, five different ideas</a:t>
            </a:r>
            <a:endParaRPr lang="en-US" sz="2800" dirty="0"/>
          </a:p>
        </p:txBody>
      </p:sp>
      <p:graphicFrame>
        <p:nvGraphicFramePr>
          <p:cNvPr id="6" name="models-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325880"/>
                <a:gridCol w="914400"/>
                <a:gridCol w="2926080"/>
                <a:gridCol w="306324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1182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Built</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1182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How it decides</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1182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Distinctive feature</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11827"/>
                    </a:solidFill>
                  </a:tcPr>
                </a:tc>
              </a:tr>
              <a:tr h="548640">
                <a:tc>
                  <a:txBody>
                    <a:bodyPr/>
                    <a:lstStyle/>
                    <a:p>
                      <a:pPr indent="0" marL="0">
                        <a:buNone/>
                      </a:pPr>
                      <a:r>
                        <a:rPr lang="en-US" sz="1200" b="1" dirty="0">
                          <a:solidFill>
                            <a:srgbClr val="0D9488"/>
                          </a:solidFill>
                          <a:latin typeface="Calibri" pitchFamily="34" charset="0"/>
                          <a:ea typeface="Calibri" pitchFamily="34" charset="-122"/>
                          <a:cs typeface="Calibri" pitchFamily="34" charset="-120"/>
                        </a:rPr>
                        <a:t>Linear SVM</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NumPy</a:t>
                      </a:r>
                      <a:endParaRPr lang="en-US" sz="11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Scores = XW + b; multi-class hinge loss (margin 1) + L2</a:t>
                      </a:r>
                      <a:endParaRPr lang="en-US" sz="11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Only margin violators give gradient; linear boundary, no probabilities</a:t>
                      </a:r>
                      <a:endParaRPr lang="en-US" sz="11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48640">
                <a:tc>
                  <a:txBody>
                    <a:bodyPr/>
                    <a:lstStyle/>
                    <a:p>
                      <a:pPr indent="0" marL="0">
                        <a:buNone/>
                      </a:pPr>
                      <a:r>
                        <a:rPr lang="en-US" sz="1200" b="1" dirty="0">
                          <a:solidFill>
                            <a:srgbClr val="0D9488"/>
                          </a:solidFill>
                          <a:latin typeface="Calibri" pitchFamily="34" charset="0"/>
                          <a:ea typeface="Calibri" pitchFamily="34" charset="-122"/>
                          <a:cs typeface="Calibri" pitchFamily="34" charset="-120"/>
                        </a:rPr>
                        <a:t>Softmax</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NumPy</a:t>
                      </a:r>
                      <a:endParaRPr lang="en-US" sz="11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Same linear scores; cross-entropy + L2</a:t>
                      </a:r>
                      <a:endParaRPr lang="en-US" sz="11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Gives class probabilities; every sample contributes to the gradient</a:t>
                      </a:r>
                      <a:endParaRPr lang="en-US" sz="11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48640">
                <a:tc>
                  <a:txBody>
                    <a:bodyPr/>
                    <a:lstStyle/>
                    <a:p>
                      <a:pPr indent="0" marL="0">
                        <a:buNone/>
                      </a:pPr>
                      <a:r>
                        <a:rPr lang="en-US" sz="1200" b="1" dirty="0">
                          <a:solidFill>
                            <a:srgbClr val="0D9488"/>
                          </a:solidFill>
                          <a:latin typeface="Calibri" pitchFamily="34" charset="0"/>
                          <a:ea typeface="Calibri" pitchFamily="34" charset="-122"/>
                          <a:cs typeface="Calibri" pitchFamily="34" charset="-120"/>
                        </a:rPr>
                        <a:t>Two-layer NN</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NumPy</a:t>
                      </a:r>
                      <a:endParaRPr lang="en-US" sz="11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12,288 &gt; 100 ReLU &gt; 10 softmax; 1.23M weights</a:t>
                      </a:r>
                      <a:endParaRPr lang="en-US" sz="11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Learns non-linear features; He init, learning-rate decay 0.9 per epoch</a:t>
                      </a:r>
                      <a:endParaRPr lang="en-US" sz="11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48640">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Naive Bayes</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scikit-learn</a:t>
                      </a:r>
                      <a:endParaRPr lang="en-US" sz="11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One Gaussian per pixel per class, assumes pixels independent</a:t>
                      </a:r>
                      <a:endParaRPr lang="en-US" sz="11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No iterative training (26 s) but ignores pixel correlations</a:t>
                      </a:r>
                      <a:endParaRPr lang="en-US" sz="11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48640">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Decision Tree</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scikit-learn</a:t>
                      </a:r>
                      <a:endParaRPr lang="en-US" sz="11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Axis-aligned threshold splits on single pixel values</a:t>
                      </a:r>
                      <a:endParaRPr lang="en-US" sz="11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Default, unpruned: reaches 100% train accuracy, ~4 min to fit</a:t>
                      </a:r>
                      <a:endParaRPr lang="en-US" sz="11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bl>
          </a:graphicData>
        </a:graphic>
      </p:graphicFrame>
      <p:sp>
        <p:nvSpPr>
          <p:cNvPr id="4" name="Text 1"/>
          <p:cNvSpPr txBox="1"/>
          <p:nvPr/>
        </p:nvSpPr>
        <p:spPr>
          <a:xfrm>
            <a:off x="457200" y="4462272"/>
            <a:ext cx="8229600" cy="274320"/>
          </a:xfrm>
          <a:prstGeom prst="rect">
            <a:avLst/>
          </a:prstGeom>
          <a:noFill/>
          <a:ln/>
        </p:spPr>
        <p:txBody>
          <a:bodyPr wrap="square" lIns="0" tIns="0" rIns="0" bIns="0" rtlCol="0" anchor="t"/>
          <a:lstStyle/>
          <a:p>
            <a:pPr indent="0" marL="0">
              <a:buNone/>
            </a:pPr>
            <a:r>
              <a:rPr lang="en-US" sz="1200" b="1" dirty="0">
                <a:solidFill>
                  <a:srgbClr val="0D9488"/>
                </a:solidFill>
                <a:latin typeface="Calibri" pitchFamily="34" charset="0"/>
                <a:ea typeface="Calibri" pitchFamily="34" charset="-122"/>
                <a:cs typeface="Calibri" pitchFamily="34" charset="-120"/>
              </a:rPr>
              <a:t>Teal = implemented from scratch (loss, gradient and SGD loop written by us).  </a:t>
            </a:r>
            <a:pPr indent="0" marL="0">
              <a:buNone/>
            </a:pPr>
            <a:r>
              <a:rPr lang="en-US" sz="1200" b="1" dirty="0">
                <a:solidFill>
                  <a:srgbClr val="B45309"/>
                </a:solidFill>
                <a:latin typeface="Calibri" pitchFamily="34" charset="0"/>
                <a:ea typeface="Calibri" pitchFamily="34" charset="-122"/>
                <a:cs typeface="Calibri" pitchFamily="34" charset="-120"/>
              </a:rPr>
              <a:t>Amber = scikit-learn baselines.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rgbClr val="111827"/>
                </a:solidFill>
                <a:latin typeface="Cambria" pitchFamily="34" charset="0"/>
                <a:ea typeface="Cambria" pitchFamily="34" charset="-122"/>
                <a:cs typeface="Cambria" pitchFamily="34" charset="-120"/>
              </a:rPr>
              <a:t>Trained carefully, verified numerically</a:t>
            </a:r>
            <a:endParaRPr lang="en-US" sz="2800" dirty="0"/>
          </a:p>
        </p:txBody>
      </p:sp>
      <p:sp>
        <p:nvSpPr>
          <p:cNvPr id="3" name="block-0"/>
          <p:cNvSpPr/>
          <p:nvPr/>
        </p:nvSpPr>
        <p:spPr>
          <a:xfrm>
            <a:off x="457200" y="1097280"/>
            <a:ext cx="2633472" cy="2148840"/>
          </a:xfrm>
          <a:prstGeom prst="roundRect">
            <a:avLst>
              <a:gd name="adj" fmla="val 3404"/>
            </a:avLst>
          </a:prstGeom>
          <a:solidFill>
            <a:srgbClr val="F1F5F9"/>
          </a:solidFill>
          <a:ln w="12700">
            <a:solidFill>
              <a:srgbClr val="F1F5F9"/>
            </a:solidFill>
            <a:prstDash val="solid"/>
          </a:ln>
        </p:spPr>
      </p:sp>
      <p:sp>
        <p:nvSpPr>
          <p:cNvPr id="4" name="num-0"/>
          <p:cNvSpPr/>
          <p:nvPr/>
        </p:nvSpPr>
        <p:spPr>
          <a:xfrm>
            <a:off x="640080" y="1234440"/>
            <a:ext cx="347472" cy="347472"/>
          </a:xfrm>
          <a:prstGeom prst="ellipse">
            <a:avLst/>
          </a:prstGeom>
          <a:solidFill>
            <a:srgbClr val="F59E0B"/>
          </a:solidFill>
          <a:ln w="12700">
            <a:solidFill>
              <a:srgbClr val="F59E0B"/>
            </a:solidFill>
            <a:prstDash val="solid"/>
          </a:ln>
        </p:spPr>
      </p:sp>
      <p:sp>
        <p:nvSpPr>
          <p:cNvPr id="5" name="Text 3"/>
          <p:cNvSpPr txBox="1"/>
          <p:nvPr/>
        </p:nvSpPr>
        <p:spPr>
          <a:xfrm>
            <a:off x="640080" y="1234440"/>
            <a:ext cx="347472" cy="347472"/>
          </a:xfrm>
          <a:prstGeom prst="rect">
            <a:avLst/>
          </a:prstGeom>
          <a:noFill/>
          <a:ln/>
        </p:spPr>
        <p:txBody>
          <a:bodyPr wrap="square" lIns="0" tIns="0" rIns="0" bIns="0" rtlCol="0" anchor="ctr"/>
          <a:lstStyle/>
          <a:p>
            <a:pPr algn="ctr" indent="0" marL="0">
              <a:buNone/>
            </a:pPr>
            <a:r>
              <a:rPr lang="en-US" sz="1400" b="1" dirty="0">
                <a:solidFill>
                  <a:srgbClr val="111827"/>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97280" y="1234440"/>
            <a:ext cx="1920240" cy="347472"/>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Training recipe</a:t>
            </a:r>
            <a:endParaRPr lang="en-US" sz="1500" dirty="0"/>
          </a:p>
        </p:txBody>
      </p:sp>
      <p:sp>
        <p:nvSpPr>
          <p:cNvPr id="7" name="Text 5"/>
          <p:cNvSpPr txBox="1"/>
          <p:nvPr/>
        </p:nvSpPr>
        <p:spPr>
          <a:xfrm>
            <a:off x="640080" y="1737360"/>
            <a:ext cx="2331720" cy="1417320"/>
          </a:xfrm>
          <a:prstGeom prst="rect">
            <a:avLst/>
          </a:prstGeom>
          <a:noFill/>
          <a:ln/>
        </p:spPr>
        <p:txBody>
          <a:bodyPr wrap="square" lIns="0" tIns="0" rIns="0" bIns="0" rtlCol="0" anchor="t"/>
          <a:lstStyle/>
          <a:p>
            <a:pPr indent="0" marL="0">
              <a:spcAft>
                <a:spcPts val="500"/>
              </a:spcAft>
              <a:buNone/>
            </a:pPr>
            <a:r>
              <a:rPr lang="en-US" sz="1200" b="1" dirty="0">
                <a:solidFill>
                  <a:srgbClr val="0D9488"/>
                </a:solidFill>
                <a:latin typeface="Calibri" pitchFamily="34" charset="0"/>
                <a:ea typeface="Calibri" pitchFamily="34" charset="-122"/>
                <a:cs typeface="Calibri" pitchFamily="34" charset="-120"/>
              </a:rPr>
              <a:t>Mini-batch SGD, </a:t>
            </a:r>
            <a:pPr indent="0" marL="0">
              <a:spcAft>
                <a:spcPts val="500"/>
              </a:spcAft>
              <a:buNone/>
            </a:pPr>
            <a:r>
              <a:rPr lang="en-US" sz="1200" dirty="0">
                <a:solidFill>
                  <a:srgbClr val="111827"/>
                </a:solidFill>
                <a:latin typeface="Calibri" pitchFamily="34" charset="0"/>
                <a:ea typeface="Calibri" pitchFamily="34" charset="-122"/>
                <a:cs typeface="Calibri" pitchFamily="34" charset="-120"/>
              </a:rPr>
              <a:t>256 (linear) / 200 (NN)</a:t>
            </a:r>
            <a:endParaRPr lang="en-US" sz="1200" dirty="0"/>
          </a:p>
          <a:p>
            <a:pPr indent="0" marL="0">
              <a:spcAft>
                <a:spcPts val="500"/>
              </a:spcAft>
              <a:buNone/>
            </a:pPr>
            <a:r>
              <a:rPr lang="en-US" sz="1200" b="1" dirty="0">
                <a:solidFill>
                  <a:srgbClr val="0D9488"/>
                </a:solidFill>
                <a:latin typeface="Calibri" pitchFamily="34" charset="0"/>
                <a:ea typeface="Calibri" pitchFamily="34" charset="-122"/>
                <a:cs typeface="Calibri" pitchFamily="34" charset="-120"/>
              </a:rPr>
              <a:t>Iterations: </a:t>
            </a:r>
            <a:pPr indent="0" marL="0">
              <a:spcAft>
                <a:spcPts val="500"/>
              </a:spcAft>
              <a:buNone/>
            </a:pPr>
            <a:r>
              <a:rPr lang="en-US" sz="1200" dirty="0">
                <a:solidFill>
                  <a:srgbClr val="111827"/>
                </a:solidFill>
                <a:latin typeface="Calibri" pitchFamily="34" charset="0"/>
                <a:ea typeface="Calibri" pitchFamily="34" charset="-122"/>
                <a:cs typeface="Calibri" pitchFamily="34" charset="-120"/>
              </a:rPr>
              <a:t>2,000 for all three</a:t>
            </a:r>
            <a:endParaRPr lang="en-US" sz="1200" dirty="0"/>
          </a:p>
          <a:p>
            <a:pPr indent="0" marL="0">
              <a:spcAft>
                <a:spcPts val="500"/>
              </a:spcAft>
              <a:buNone/>
            </a:pPr>
            <a:r>
              <a:rPr lang="en-US" sz="1200" b="1" dirty="0">
                <a:solidFill>
                  <a:srgbClr val="0D9488"/>
                </a:solidFill>
                <a:latin typeface="Calibri" pitchFamily="34" charset="0"/>
                <a:ea typeface="Calibri" pitchFamily="34" charset="-122"/>
                <a:cs typeface="Calibri" pitchFamily="34" charset="-120"/>
              </a:rPr>
              <a:t>Init: </a:t>
            </a:r>
            <a:pPr indent="0" marL="0">
              <a:spcAft>
                <a:spcPts val="500"/>
              </a:spcAft>
              <a:buNone/>
            </a:pPr>
            <a:r>
              <a:rPr lang="en-US" sz="1200" dirty="0">
                <a:solidFill>
                  <a:srgbClr val="111827"/>
                </a:solidFill>
                <a:latin typeface="Calibri" pitchFamily="34" charset="0"/>
                <a:ea typeface="Calibri" pitchFamily="34" charset="-122"/>
                <a:cs typeface="Calibri" pitchFamily="34" charset="-120"/>
              </a:rPr>
              <a:t>0.001 randn (linear), He (NN)</a:t>
            </a:r>
            <a:endParaRPr lang="en-US" sz="1200" dirty="0"/>
          </a:p>
          <a:p>
            <a:pPr indent="0" marL="0">
              <a:spcAft>
                <a:spcPts val="500"/>
              </a:spcAft>
              <a:buNone/>
            </a:pPr>
            <a:r>
              <a:rPr lang="en-US" sz="1200" b="1" dirty="0">
                <a:solidFill>
                  <a:srgbClr val="0D9488"/>
                </a:solidFill>
                <a:latin typeface="Calibri" pitchFamily="34" charset="0"/>
                <a:ea typeface="Calibri" pitchFamily="34" charset="-122"/>
                <a:cs typeface="Calibri" pitchFamily="34" charset="-120"/>
              </a:rPr>
              <a:t>Fixed seed 0: </a:t>
            </a:r>
            <a:pPr indent="0" marL="0">
              <a:spcAft>
                <a:spcPts val="500"/>
              </a:spcAft>
              <a:buNone/>
            </a:pPr>
            <a:r>
              <a:rPr lang="en-US" sz="1200" dirty="0">
                <a:solidFill>
                  <a:srgbClr val="111827"/>
                </a:solidFill>
                <a:latin typeface="Calibri" pitchFamily="34" charset="0"/>
                <a:ea typeface="Calibri" pitchFamily="34" charset="-122"/>
                <a:cs typeface="Calibri" pitchFamily="34" charset="-120"/>
              </a:rPr>
              <a:t>SVM/softmax are init-sensitive</a:t>
            </a:r>
            <a:endParaRPr lang="en-US" sz="1200" dirty="0"/>
          </a:p>
        </p:txBody>
      </p:sp>
      <p:sp>
        <p:nvSpPr>
          <p:cNvPr id="8" name="block-1"/>
          <p:cNvSpPr/>
          <p:nvPr/>
        </p:nvSpPr>
        <p:spPr>
          <a:xfrm>
            <a:off x="3255264" y="1097280"/>
            <a:ext cx="2633472" cy="2148840"/>
          </a:xfrm>
          <a:prstGeom prst="roundRect">
            <a:avLst>
              <a:gd name="adj" fmla="val 3404"/>
            </a:avLst>
          </a:prstGeom>
          <a:solidFill>
            <a:srgbClr val="F1F5F9"/>
          </a:solidFill>
          <a:ln w="12700">
            <a:solidFill>
              <a:srgbClr val="F1F5F9"/>
            </a:solidFill>
            <a:prstDash val="solid"/>
          </a:ln>
        </p:spPr>
      </p:sp>
      <p:sp>
        <p:nvSpPr>
          <p:cNvPr id="9" name="num-1"/>
          <p:cNvSpPr/>
          <p:nvPr/>
        </p:nvSpPr>
        <p:spPr>
          <a:xfrm>
            <a:off x="3438144" y="1234440"/>
            <a:ext cx="347472" cy="347472"/>
          </a:xfrm>
          <a:prstGeom prst="ellipse">
            <a:avLst/>
          </a:prstGeom>
          <a:solidFill>
            <a:srgbClr val="F59E0B"/>
          </a:solidFill>
          <a:ln w="12700">
            <a:solidFill>
              <a:srgbClr val="F59E0B"/>
            </a:solidFill>
            <a:prstDash val="solid"/>
          </a:ln>
        </p:spPr>
      </p:sp>
      <p:sp>
        <p:nvSpPr>
          <p:cNvPr id="10" name="Text 8"/>
          <p:cNvSpPr txBox="1"/>
          <p:nvPr/>
        </p:nvSpPr>
        <p:spPr>
          <a:xfrm>
            <a:off x="3438144" y="1234440"/>
            <a:ext cx="347472" cy="347472"/>
          </a:xfrm>
          <a:prstGeom prst="rect">
            <a:avLst/>
          </a:prstGeom>
          <a:noFill/>
          <a:ln/>
        </p:spPr>
        <p:txBody>
          <a:bodyPr wrap="square" lIns="0" tIns="0" rIns="0" bIns="0" rtlCol="0" anchor="ctr"/>
          <a:lstStyle/>
          <a:p>
            <a:pPr algn="ctr" indent="0" marL="0">
              <a:buNone/>
            </a:pPr>
            <a:r>
              <a:rPr lang="en-US" sz="1400" b="1" dirty="0">
                <a:solidFill>
                  <a:srgbClr val="111827"/>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3895344" y="1234440"/>
            <a:ext cx="1920240" cy="347472"/>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Tuning, no peeking</a:t>
            </a:r>
            <a:endParaRPr lang="en-US" sz="1500" dirty="0"/>
          </a:p>
        </p:txBody>
      </p:sp>
      <p:sp>
        <p:nvSpPr>
          <p:cNvPr id="12" name="Text 10"/>
          <p:cNvSpPr txBox="1"/>
          <p:nvPr/>
        </p:nvSpPr>
        <p:spPr>
          <a:xfrm>
            <a:off x="3438144" y="1737360"/>
            <a:ext cx="2331720" cy="1417320"/>
          </a:xfrm>
          <a:prstGeom prst="rect">
            <a:avLst/>
          </a:prstGeom>
          <a:noFill/>
          <a:ln/>
        </p:spPr>
        <p:txBody>
          <a:bodyPr wrap="square" lIns="0" tIns="0" rIns="0" bIns="0" rtlCol="0" anchor="t"/>
          <a:lstStyle/>
          <a:p>
            <a:pPr indent="0" marL="0">
              <a:spcAft>
                <a:spcPts val="500"/>
              </a:spcAft>
              <a:buNone/>
            </a:pPr>
            <a:r>
              <a:rPr lang="en-US" sz="1200" b="1" dirty="0">
                <a:solidFill>
                  <a:srgbClr val="0D9488"/>
                </a:solidFill>
                <a:latin typeface="Calibri" pitchFamily="34" charset="0"/>
                <a:ea typeface="Calibri" pitchFamily="34" charset="-122"/>
                <a:cs typeface="Calibri" pitchFamily="34" charset="-120"/>
              </a:rPr>
              <a:t>Grid: </a:t>
            </a:r>
            <a:pPr indent="0" marL="0">
              <a:spcAft>
                <a:spcPts val="500"/>
              </a:spcAft>
              <a:buNone/>
            </a:pPr>
            <a:r>
              <a:rPr lang="en-US" sz="1200" dirty="0">
                <a:solidFill>
                  <a:srgbClr val="111827"/>
                </a:solidFill>
                <a:latin typeface="Calibri" pitchFamily="34" charset="0"/>
                <a:ea typeface="Calibri" pitchFamily="34" charset="-122"/>
                <a:cs typeface="Calibri" pitchFamily="34" charset="-120"/>
              </a:rPr>
              <a:t>learning rate x regularisation</a:t>
            </a:r>
            <a:endParaRPr lang="en-US" sz="1200" dirty="0"/>
          </a:p>
          <a:p>
            <a:pPr indent="0" marL="0">
              <a:spcAft>
                <a:spcPts val="500"/>
              </a:spcAft>
              <a:buNone/>
            </a:pPr>
            <a:r>
              <a:rPr lang="en-US" sz="1200" b="1" dirty="0">
                <a:solidFill>
                  <a:srgbClr val="0D9488"/>
                </a:solidFill>
                <a:latin typeface="Calibri" pitchFamily="34" charset="0"/>
                <a:ea typeface="Calibri" pitchFamily="34" charset="-122"/>
                <a:cs typeface="Calibri" pitchFamily="34" charset="-120"/>
              </a:rPr>
              <a:t>Linear: </a:t>
            </a:r>
            <a:pPr indent="0" marL="0">
              <a:spcAft>
                <a:spcPts val="500"/>
              </a:spcAft>
              <a:buNone/>
            </a:pPr>
            <a:r>
              <a:rPr lang="en-US" sz="1200" dirty="0">
                <a:solidFill>
                  <a:srgbClr val="111827"/>
                </a:solidFill>
                <a:latin typeface="Calibri" pitchFamily="34" charset="0"/>
                <a:ea typeface="Calibri" pitchFamily="34" charset="-122"/>
                <a:cs typeface="Calibri" pitchFamily="34" charset="-120"/>
              </a:rPr>
              <a:t>4 x 3 = 12 settings</a:t>
            </a:r>
            <a:endParaRPr lang="en-US" sz="1200" dirty="0"/>
          </a:p>
          <a:p>
            <a:pPr indent="0" marL="0">
              <a:spcAft>
                <a:spcPts val="500"/>
              </a:spcAft>
              <a:buNone/>
            </a:pPr>
            <a:r>
              <a:rPr lang="en-US" sz="1200" b="1" dirty="0">
                <a:solidFill>
                  <a:srgbClr val="0D9488"/>
                </a:solidFill>
                <a:latin typeface="Calibri" pitchFamily="34" charset="0"/>
                <a:ea typeface="Calibri" pitchFamily="34" charset="-122"/>
                <a:cs typeface="Calibri" pitchFamily="34" charset="-120"/>
              </a:rPr>
              <a:t>NN: </a:t>
            </a:r>
            <a:pPr indent="0" marL="0">
              <a:spcAft>
                <a:spcPts val="500"/>
              </a:spcAft>
              <a:buNone/>
            </a:pPr>
            <a:r>
              <a:rPr lang="en-US" sz="1200" dirty="0">
                <a:solidFill>
                  <a:srgbClr val="111827"/>
                </a:solidFill>
                <a:latin typeface="Calibri" pitchFamily="34" charset="0"/>
                <a:ea typeface="Calibri" pitchFamily="34" charset="-122"/>
                <a:cs typeface="Calibri" pitchFamily="34" charset="-120"/>
              </a:rPr>
              <a:t>3 x 3 = 9 settings</a:t>
            </a:r>
            <a:endParaRPr lang="en-US" sz="1200" dirty="0"/>
          </a:p>
          <a:p>
            <a:pPr indent="0" marL="0">
              <a:spcAft>
                <a:spcPts val="500"/>
              </a:spcAft>
              <a:buNone/>
            </a:pPr>
            <a:r>
              <a:rPr lang="en-US" sz="1200" b="1" dirty="0">
                <a:solidFill>
                  <a:srgbClr val="0D9488"/>
                </a:solidFill>
                <a:latin typeface="Calibri" pitchFamily="34" charset="0"/>
                <a:ea typeface="Calibri" pitchFamily="34" charset="-122"/>
                <a:cs typeface="Calibri" pitchFamily="34" charset="-120"/>
              </a:rPr>
              <a:t>Scored on </a:t>
            </a:r>
            <a:pPr indent="0" marL="0">
              <a:spcAft>
                <a:spcPts val="500"/>
              </a:spcAft>
              <a:buNone/>
            </a:pPr>
            <a:r>
              <a:rPr lang="en-US" sz="1200" dirty="0">
                <a:solidFill>
                  <a:srgbClr val="111827"/>
                </a:solidFill>
                <a:latin typeface="Calibri" pitchFamily="34" charset="0"/>
                <a:ea typeface="Calibri" pitchFamily="34" charset="-122"/>
                <a:cs typeface="Calibri" pitchFamily="34" charset="-120"/>
              </a:rPr>
              <a:t>an inner split of TRAIN only</a:t>
            </a:r>
            <a:endParaRPr lang="en-US" sz="1200" dirty="0"/>
          </a:p>
        </p:txBody>
      </p:sp>
      <p:sp>
        <p:nvSpPr>
          <p:cNvPr id="13" name="block-2"/>
          <p:cNvSpPr/>
          <p:nvPr/>
        </p:nvSpPr>
        <p:spPr>
          <a:xfrm>
            <a:off x="6053328" y="1097280"/>
            <a:ext cx="2633472" cy="2148840"/>
          </a:xfrm>
          <a:prstGeom prst="roundRect">
            <a:avLst>
              <a:gd name="adj" fmla="val 3404"/>
            </a:avLst>
          </a:prstGeom>
          <a:solidFill>
            <a:srgbClr val="F1F5F9"/>
          </a:solidFill>
          <a:ln w="12700">
            <a:solidFill>
              <a:srgbClr val="F1F5F9"/>
            </a:solidFill>
            <a:prstDash val="solid"/>
          </a:ln>
        </p:spPr>
      </p:sp>
      <p:sp>
        <p:nvSpPr>
          <p:cNvPr id="14" name="num-2"/>
          <p:cNvSpPr/>
          <p:nvPr/>
        </p:nvSpPr>
        <p:spPr>
          <a:xfrm>
            <a:off x="6236208" y="1234440"/>
            <a:ext cx="347472" cy="347472"/>
          </a:xfrm>
          <a:prstGeom prst="ellipse">
            <a:avLst/>
          </a:prstGeom>
          <a:solidFill>
            <a:srgbClr val="0D9488"/>
          </a:solidFill>
          <a:ln w="12700">
            <a:solidFill>
              <a:srgbClr val="0D9488"/>
            </a:solidFill>
            <a:prstDash val="solid"/>
          </a:ln>
        </p:spPr>
      </p:sp>
      <p:sp>
        <p:nvSpPr>
          <p:cNvPr id="15" name="Text 13"/>
          <p:cNvSpPr txBox="1"/>
          <p:nvPr/>
        </p:nvSpPr>
        <p:spPr>
          <a:xfrm>
            <a:off x="6236208" y="123444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6693408" y="1234440"/>
            <a:ext cx="1920240" cy="347472"/>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Gradient check</a:t>
            </a:r>
            <a:endParaRPr lang="en-US" sz="1500" dirty="0"/>
          </a:p>
        </p:txBody>
      </p:sp>
      <p:sp>
        <p:nvSpPr>
          <p:cNvPr id="17" name="Text 15"/>
          <p:cNvSpPr txBox="1"/>
          <p:nvPr/>
        </p:nvSpPr>
        <p:spPr>
          <a:xfrm>
            <a:off x="6236208" y="1737360"/>
            <a:ext cx="2331720" cy="1417320"/>
          </a:xfrm>
          <a:prstGeom prst="rect">
            <a:avLst/>
          </a:prstGeom>
          <a:noFill/>
          <a:ln/>
        </p:spPr>
        <p:txBody>
          <a:bodyPr wrap="square" lIns="0" tIns="0" rIns="0" bIns="0" rtlCol="0" anchor="t"/>
          <a:lstStyle/>
          <a:p>
            <a:pPr indent="0" marL="0">
              <a:spcAft>
                <a:spcPts val="500"/>
              </a:spcAft>
              <a:buNone/>
            </a:pPr>
            <a:r>
              <a:rPr lang="en-US" sz="1200" b="1" dirty="0">
                <a:solidFill>
                  <a:srgbClr val="0D9488"/>
                </a:solidFill>
                <a:latin typeface="Calibri" pitchFamily="34" charset="0"/>
                <a:ea typeface="Calibri" pitchFamily="34" charset="-122"/>
                <a:cs typeface="Calibri" pitchFamily="34" charset="-120"/>
              </a:rPr>
              <a:t>SVM: </a:t>
            </a:r>
            <a:pPr indent="0" marL="0">
              <a:spcAft>
                <a:spcPts val="500"/>
              </a:spcAft>
              <a:buNone/>
            </a:pPr>
            <a:r>
              <a:rPr lang="en-US" sz="1200" dirty="0">
                <a:solidFill>
                  <a:srgbClr val="111827"/>
                </a:solidFill>
                <a:latin typeface="Calibri" pitchFamily="34" charset="0"/>
                <a:ea typeface="Calibri" pitchFamily="34" charset="-122"/>
                <a:cs typeface="Calibri" pitchFamily="34" charset="-120"/>
              </a:rPr>
              <a:t>2.1e-10</a:t>
            </a:r>
            <a:endParaRPr lang="en-US" sz="1200" dirty="0"/>
          </a:p>
          <a:p>
            <a:pPr indent="0" marL="0">
              <a:spcAft>
                <a:spcPts val="500"/>
              </a:spcAft>
              <a:buNone/>
            </a:pPr>
            <a:r>
              <a:rPr lang="en-US" sz="1200" b="1" dirty="0">
                <a:solidFill>
                  <a:srgbClr val="0D9488"/>
                </a:solidFill>
                <a:latin typeface="Calibri" pitchFamily="34" charset="0"/>
                <a:ea typeface="Calibri" pitchFamily="34" charset="-122"/>
                <a:cs typeface="Calibri" pitchFamily="34" charset="-120"/>
              </a:rPr>
              <a:t>Softmax: </a:t>
            </a:r>
            <a:pPr indent="0" marL="0">
              <a:spcAft>
                <a:spcPts val="500"/>
              </a:spcAft>
              <a:buNone/>
            </a:pPr>
            <a:r>
              <a:rPr lang="en-US" sz="1200" dirty="0">
                <a:solidFill>
                  <a:srgbClr val="111827"/>
                </a:solidFill>
                <a:latin typeface="Calibri" pitchFamily="34" charset="0"/>
                <a:ea typeface="Calibri" pitchFamily="34" charset="-122"/>
                <a:cs typeface="Calibri" pitchFamily="34" charset="-120"/>
              </a:rPr>
              <a:t>7.4e-11</a:t>
            </a:r>
            <a:endParaRPr lang="en-US" sz="1200" dirty="0"/>
          </a:p>
          <a:p>
            <a:pPr indent="0" marL="0">
              <a:spcAft>
                <a:spcPts val="500"/>
              </a:spcAft>
              <a:buNone/>
            </a:pPr>
            <a:r>
              <a:rPr lang="en-US" sz="1200" b="1" dirty="0">
                <a:solidFill>
                  <a:srgbClr val="0D9488"/>
                </a:solidFill>
                <a:latin typeface="Calibri" pitchFamily="34" charset="0"/>
                <a:ea typeface="Calibri" pitchFamily="34" charset="-122"/>
                <a:cs typeface="Calibri" pitchFamily="34" charset="-120"/>
              </a:rPr>
              <a:t>NN (W1, b1, W2, b2): </a:t>
            </a:r>
            <a:pPr indent="0" marL="0">
              <a:spcAft>
                <a:spcPts val="500"/>
              </a:spcAft>
              <a:buNone/>
            </a:pPr>
            <a:r>
              <a:rPr lang="en-US" sz="1200" dirty="0">
                <a:solidFill>
                  <a:srgbClr val="111827"/>
                </a:solidFill>
                <a:latin typeface="Calibri" pitchFamily="34" charset="0"/>
                <a:ea typeface="Calibri" pitchFamily="34" charset="-122"/>
                <a:cs typeface="Calibri" pitchFamily="34" charset="-120"/>
              </a:rPr>
              <a:t>below 6e-11</a:t>
            </a:r>
            <a:endParaRPr lang="en-US" sz="1200" dirty="0"/>
          </a:p>
          <a:p>
            <a:pPr indent="0" marL="0">
              <a:spcAft>
                <a:spcPts val="500"/>
              </a:spcAft>
              <a:buNone/>
            </a:pPr>
            <a:r>
              <a:rPr lang="en-US" sz="1200" b="1" dirty="0">
                <a:solidFill>
                  <a:srgbClr val="0D9488"/>
                </a:solidFill>
                <a:latin typeface="Calibri" pitchFamily="34" charset="0"/>
                <a:ea typeface="Calibri" pitchFamily="34" charset="-122"/>
                <a:cs typeface="Calibri" pitchFamily="34" charset="-120"/>
              </a:rPr>
              <a:t>Analytic vs numeric gradients</a:t>
            </a:r>
            <a:pPr indent="0" marL="0">
              <a:spcAft>
                <a:spcPts val="500"/>
              </a:spcAft>
              <a:buNone/>
            </a:pPr>
            <a:endParaRPr lang="en-US" sz="1200" dirty="0"/>
          </a:p>
        </p:txBody>
      </p:sp>
      <p:graphicFrame>
        <p:nvGraphicFramePr>
          <p:cNvPr id="7" name="hyper-table"/>
          <p:cNvGraphicFramePr>
            <a:graphicFrameLocks noGrp="1"/>
          </p:cNvGraphicFramePr>
          <p:nvPr>
            <p:extLst>
              <p:ext uri="{D42A27DB-BD31-4B8C-83A1-F6EECF244321}">
                <p14:modId xmlns:p14="http://schemas.microsoft.com/office/powerpoint/2010/main" val="1579011935"/>
              </p:ext>
            </p:extLst>
          </p:nvPr>
        </p:nvGraphicFramePr>
        <p:xfrm>
          <a:off x="457200" y="3429000"/>
          <a:ext cx="8229600" cy="914400"/>
        </p:xfrm>
        <a:graphic>
          <a:graphicData uri="http://schemas.openxmlformats.org/drawingml/2006/table">
            <a:tbl>
              <a:tblPr/>
              <a:tblGrid>
                <a:gridCol w="2331720"/>
                <a:gridCol w="1965960"/>
                <a:gridCol w="1965960"/>
                <a:gridCol w="1965960"/>
              </a:tblGrid>
              <a:tr h="329184">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Best settings chosen</a:t>
                      </a:r>
                      <a:endParaRPr lang="en-US" sz="1200" dirty="0">
                        <a:latin typeface="Calibri" charset="0"/>
                        <a:ea typeface="Calibri" charset="0"/>
                        <a:cs typeface="Calibri" charset="0"/>
                      </a:endParaRPr>
                    </a:p>
                  </a:txBody>
                  <a:tcPr marL="73152" marR="73152" marT="27432" marB="27432">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11827"/>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Linear SVM</a:t>
                      </a:r>
                      <a:endParaRPr lang="en-US" sz="1200" dirty="0">
                        <a:latin typeface="Calibri" charset="0"/>
                        <a:ea typeface="Calibri" charset="0"/>
                        <a:cs typeface="Calibri" charset="0"/>
                      </a:endParaRPr>
                    </a:p>
                  </a:txBody>
                  <a:tcPr marL="73152" marR="73152" marT="27432" marB="27432">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11827"/>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Softmax</a:t>
                      </a:r>
                      <a:endParaRPr lang="en-US" sz="1200" dirty="0">
                        <a:latin typeface="Calibri" charset="0"/>
                        <a:ea typeface="Calibri" charset="0"/>
                        <a:cs typeface="Calibri" charset="0"/>
                      </a:endParaRPr>
                    </a:p>
                  </a:txBody>
                  <a:tcPr marL="73152" marR="73152" marT="27432" marB="27432">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11827"/>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Two-layer NN</a:t>
                      </a:r>
                      <a:endParaRPr lang="en-US" sz="1200" dirty="0">
                        <a:latin typeface="Calibri" charset="0"/>
                        <a:ea typeface="Calibri" charset="0"/>
                        <a:cs typeface="Calibri" charset="0"/>
                      </a:endParaRPr>
                    </a:p>
                  </a:txBody>
                  <a:tcPr marL="73152" marR="73152" marT="27432" marB="27432">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11827"/>
                    </a:solidFill>
                  </a:tcPr>
                </a:tc>
              </a:tr>
              <a:tr h="329184">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Random split (lr, reg)</a:t>
                      </a:r>
                      <a:endParaRPr lang="en-US" sz="1200" dirty="0">
                        <a:latin typeface="Calibri" charset="0"/>
                        <a:ea typeface="Calibri" charset="0"/>
                        <a:cs typeface="Calibri" charset="0"/>
                      </a:endParaRPr>
                    </a:p>
                  </a:txBody>
                  <a:tcPr marL="73152" marR="73152" marT="27432" marB="27432">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1e-3, 1e-4</a:t>
                      </a:r>
                      <a:endParaRPr lang="en-US" sz="1200" dirty="0">
                        <a:latin typeface="Calibri" charset="0"/>
                        <a:ea typeface="Calibri" charset="0"/>
                        <a:cs typeface="Calibri" charset="0"/>
                      </a:endParaRPr>
                    </a:p>
                  </a:txBody>
                  <a:tcPr marL="73152" marR="73152" marT="27432" marB="27432">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1e-3, 1e-2</a:t>
                      </a:r>
                      <a:endParaRPr lang="en-US" sz="1200" dirty="0">
                        <a:latin typeface="Calibri" charset="0"/>
                        <a:ea typeface="Calibri" charset="0"/>
                        <a:cs typeface="Calibri" charset="0"/>
                      </a:endParaRPr>
                    </a:p>
                  </a:txBody>
                  <a:tcPr marL="73152" marR="73152" marT="27432" marB="27432">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3e-2, 1e-4</a:t>
                      </a:r>
                      <a:endParaRPr lang="en-US" sz="1200" dirty="0">
                        <a:latin typeface="Calibri" charset="0"/>
                        <a:ea typeface="Calibri" charset="0"/>
                        <a:cs typeface="Calibri" charset="0"/>
                      </a:endParaRPr>
                    </a:p>
                  </a:txBody>
                  <a:tcPr marL="73152" marR="73152" marT="27432" marB="27432">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329184">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Driver-wise (lr, reg)</a:t>
                      </a:r>
                      <a:endParaRPr lang="en-US" sz="1200" dirty="0">
                        <a:latin typeface="Calibri" charset="0"/>
                        <a:ea typeface="Calibri" charset="0"/>
                        <a:cs typeface="Calibri" charset="0"/>
                      </a:endParaRPr>
                    </a:p>
                  </a:txBody>
                  <a:tcPr marL="73152" marR="73152" marT="27432" marB="27432">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3e-4, 1e-3</a:t>
                      </a:r>
                      <a:endParaRPr lang="en-US" sz="1200" dirty="0">
                        <a:latin typeface="Calibri" charset="0"/>
                        <a:ea typeface="Calibri" charset="0"/>
                        <a:cs typeface="Calibri" charset="0"/>
                      </a:endParaRPr>
                    </a:p>
                  </a:txBody>
                  <a:tcPr marL="73152" marR="73152" marT="27432" marB="27432">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1e-3, 1e-2</a:t>
                      </a:r>
                      <a:endParaRPr lang="en-US" sz="1200" dirty="0">
                        <a:latin typeface="Calibri" charset="0"/>
                        <a:ea typeface="Calibri" charset="0"/>
                        <a:cs typeface="Calibri" charset="0"/>
                      </a:endParaRPr>
                    </a:p>
                  </a:txBody>
                  <a:tcPr marL="73152" marR="73152" marT="27432" marB="27432">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3e-2, 1e-3</a:t>
                      </a:r>
                      <a:endParaRPr lang="en-US" sz="1200" dirty="0">
                        <a:latin typeface="Calibri" charset="0"/>
                        <a:ea typeface="Calibri" charset="0"/>
                        <a:cs typeface="Calibri" charset="0"/>
                      </a:endParaRPr>
                    </a:p>
                  </a:txBody>
                  <a:tcPr marL="73152" marR="73152" marT="27432" marB="27432">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rgbClr val="111827"/>
                </a:solidFill>
                <a:latin typeface="Cambria" pitchFamily="34" charset="0"/>
                <a:ea typeface="Cambria" pitchFamily="34" charset="-122"/>
                <a:cs typeface="Cambria" pitchFamily="34" charset="-120"/>
              </a:rPr>
              <a:t>Accuracy collapses on unseen drivers</a:t>
            </a:r>
            <a:endParaRPr lang="en-US" sz="2800" dirty="0"/>
          </a:p>
        </p:txBody>
      </p:sp>
      <p:graphicFrame>
        <p:nvGraphicFramePr>
          <p:cNvPr id="3" name="Chart 0" descr=""/>
          <p:cNvGraphicFramePr/>
          <p:nvPr/>
        </p:nvGraphicFramePr>
        <p:xfrm>
          <a:off x="365760" y="1005840"/>
          <a:ext cx="5669280" cy="3611880"/>
        </p:xfrm>
        <a:graphic xmlns:a="http://schemas.openxmlformats.org/drawingml/2006/main">
          <a:graphicData uri="http://schemas.openxmlformats.org/drawingml/2006/chart">
            <c:chart xmlns:c="http://schemas.openxmlformats.org/drawingml/2006/chart" r:id="rId1"/>
          </a:graphicData>
        </a:graphic>
      </p:graphicFrame>
      <p:sp>
        <p:nvSpPr>
          <p:cNvPr id="4" name="stat-drop"/>
          <p:cNvSpPr/>
          <p:nvPr/>
        </p:nvSpPr>
        <p:spPr>
          <a:xfrm>
            <a:off x="6263640" y="1097280"/>
            <a:ext cx="2423160" cy="1097280"/>
          </a:xfrm>
          <a:prstGeom prst="roundRect">
            <a:avLst>
              <a:gd name="adj" fmla="val 6667"/>
            </a:avLst>
          </a:prstGeom>
          <a:solidFill>
            <a:srgbClr val="111827"/>
          </a:solidFill>
          <a:ln w="12700">
            <a:solidFill>
              <a:srgbClr val="111827"/>
            </a:solidFill>
            <a:prstDash val="solid"/>
          </a:ln>
        </p:spPr>
      </p:sp>
      <p:sp>
        <p:nvSpPr>
          <p:cNvPr id="5" name="Text 2"/>
          <p:cNvSpPr txBox="1"/>
          <p:nvPr/>
        </p:nvSpPr>
        <p:spPr>
          <a:xfrm>
            <a:off x="6263640" y="1143000"/>
            <a:ext cx="2423160" cy="594360"/>
          </a:xfrm>
          <a:prstGeom prst="rect">
            <a:avLst/>
          </a:prstGeom>
          <a:noFill/>
          <a:ln/>
        </p:spPr>
        <p:txBody>
          <a:bodyPr wrap="square" lIns="0" tIns="0" rIns="0" bIns="0" rtlCol="0" anchor="ctr"/>
          <a:lstStyle/>
          <a:p>
            <a:pPr algn="ctr" indent="0" marL="0">
              <a:buNone/>
            </a:pPr>
            <a:r>
              <a:rPr lang="en-US" sz="3600" b="1" dirty="0">
                <a:solidFill>
                  <a:srgbClr val="F59E0B"/>
                </a:solidFill>
                <a:latin typeface="Cambria" pitchFamily="34" charset="0"/>
                <a:ea typeface="Cambria" pitchFamily="34" charset="-122"/>
                <a:cs typeface="Cambria" pitchFamily="34" charset="-120"/>
              </a:rPr>
              <a:t>-41.6</a:t>
            </a:r>
            <a:endParaRPr lang="en-US" sz="3600" dirty="0"/>
          </a:p>
        </p:txBody>
      </p:sp>
      <p:sp>
        <p:nvSpPr>
          <p:cNvPr id="6" name="Text 3"/>
          <p:cNvSpPr txBox="1"/>
          <p:nvPr/>
        </p:nvSpPr>
        <p:spPr>
          <a:xfrm>
            <a:off x="6400800" y="1719072"/>
            <a:ext cx="2148840" cy="411480"/>
          </a:xfrm>
          <a:prstGeom prst="rect">
            <a:avLst/>
          </a:prstGeom>
          <a:noFill/>
          <a:ln/>
        </p:spPr>
        <p:txBody>
          <a:bodyPr wrap="square" lIns="0" tIns="0" rIns="0" bIns="0" rtlCol="0" anchor="t"/>
          <a:lstStyle/>
          <a:p>
            <a:pPr algn="ctr" indent="0" marL="0">
              <a:buNone/>
            </a:pPr>
            <a:r>
              <a:rPr lang="en-US" sz="1100" dirty="0">
                <a:solidFill>
                  <a:srgbClr val="CBD5E1"/>
                </a:solidFill>
                <a:latin typeface="Calibri" pitchFamily="34" charset="0"/>
                <a:ea typeface="Calibri" pitchFamily="34" charset="-122"/>
                <a:cs typeface="Calibri" pitchFamily="34" charset="-120"/>
              </a:rPr>
              <a:t>points: average drop, random to driver-wise</a:t>
            </a:r>
            <a:endParaRPr lang="en-US" sz="1100" dirty="0"/>
          </a:p>
        </p:txBody>
      </p:sp>
      <p:sp>
        <p:nvSpPr>
          <p:cNvPr id="7" name="stat-best"/>
          <p:cNvSpPr/>
          <p:nvPr/>
        </p:nvSpPr>
        <p:spPr>
          <a:xfrm>
            <a:off x="6263640" y="2331720"/>
            <a:ext cx="2423160" cy="1097280"/>
          </a:xfrm>
          <a:prstGeom prst="roundRect">
            <a:avLst>
              <a:gd name="adj" fmla="val 6667"/>
            </a:avLst>
          </a:prstGeom>
          <a:solidFill>
            <a:srgbClr val="F1F5F9"/>
          </a:solidFill>
          <a:ln w="12700">
            <a:solidFill>
              <a:srgbClr val="F1F5F9"/>
            </a:solidFill>
            <a:prstDash val="solid"/>
          </a:ln>
        </p:spPr>
      </p:sp>
      <p:sp>
        <p:nvSpPr>
          <p:cNvPr id="8" name="Text 5"/>
          <p:cNvSpPr txBox="1"/>
          <p:nvPr/>
        </p:nvSpPr>
        <p:spPr>
          <a:xfrm>
            <a:off x="6263640" y="2377440"/>
            <a:ext cx="2423160" cy="594360"/>
          </a:xfrm>
          <a:prstGeom prst="rect">
            <a:avLst/>
          </a:prstGeom>
          <a:noFill/>
          <a:ln/>
        </p:spPr>
        <p:txBody>
          <a:bodyPr wrap="square" lIns="0" tIns="0" rIns="0" bIns="0" rtlCol="0" anchor="ctr"/>
          <a:lstStyle/>
          <a:p>
            <a:pPr algn="ctr" indent="0" marL="0">
              <a:buNone/>
            </a:pPr>
            <a:r>
              <a:rPr lang="en-US" sz="3600" b="1" dirty="0">
                <a:solidFill>
                  <a:srgbClr val="0D9488"/>
                </a:solidFill>
                <a:latin typeface="Cambria" pitchFamily="34" charset="0"/>
                <a:ea typeface="Cambria" pitchFamily="34" charset="-122"/>
                <a:cs typeface="Cambria" pitchFamily="34" charset="-120"/>
              </a:rPr>
              <a:t>NN</a:t>
            </a:r>
            <a:endParaRPr lang="en-US" sz="3600" dirty="0"/>
          </a:p>
        </p:txBody>
      </p:sp>
      <p:sp>
        <p:nvSpPr>
          <p:cNvPr id="9" name="Text 6"/>
          <p:cNvSpPr txBox="1"/>
          <p:nvPr/>
        </p:nvSpPr>
        <p:spPr>
          <a:xfrm>
            <a:off x="6400800" y="2953512"/>
            <a:ext cx="2148840" cy="411480"/>
          </a:xfrm>
          <a:prstGeom prst="rect">
            <a:avLst/>
          </a:prstGeom>
          <a:noFill/>
          <a:ln/>
        </p:spPr>
        <p:txBody>
          <a:bodyPr wrap="square" lIns="0" tIns="0" rIns="0" bIns="0" rtlCol="0" anchor="t"/>
          <a:lstStyle/>
          <a:p>
            <a:pPr algn="ctr" indent="0" marL="0">
              <a:buNone/>
            </a:pPr>
            <a:r>
              <a:rPr lang="en-US" sz="1100" dirty="0">
                <a:solidFill>
                  <a:srgbClr val="334155"/>
                </a:solidFill>
                <a:latin typeface="Calibri" pitchFamily="34" charset="0"/>
                <a:ea typeface="Calibri" pitchFamily="34" charset="-122"/>
                <a:cs typeface="Calibri" pitchFamily="34" charset="-120"/>
              </a:rPr>
              <a:t>best model under both protocols (98.0% / 51.6%)</a:t>
            </a:r>
            <a:endParaRPr lang="en-US" sz="1100" dirty="0"/>
          </a:p>
        </p:txBody>
      </p:sp>
      <p:sp>
        <p:nvSpPr>
          <p:cNvPr id="10" name="Text 7"/>
          <p:cNvSpPr txBox="1"/>
          <p:nvPr/>
        </p:nvSpPr>
        <p:spPr>
          <a:xfrm>
            <a:off x="6263640" y="3566160"/>
            <a:ext cx="2423160" cy="1097280"/>
          </a:xfrm>
          <a:prstGeom prst="rect">
            <a:avLst/>
          </a:prstGeom>
          <a:noFill/>
          <a:ln/>
        </p:spPr>
        <p:txBody>
          <a:bodyPr wrap="square" lIns="0" tIns="0" rIns="0" bIns="0" rtlCol="0" anchor="t"/>
          <a:lstStyle/>
          <a:p>
            <a:pPr indent="0" marL="0">
              <a:buNone/>
            </a:pPr>
            <a:r>
              <a:rPr lang="en-US" sz="1100" b="1" dirty="0">
                <a:solidFill>
                  <a:srgbClr val="334155"/>
                </a:solidFill>
                <a:latin typeface="Calibri" pitchFamily="34" charset="0"/>
                <a:ea typeface="Calibri" pitchFamily="34" charset="-122"/>
                <a:cs typeface="Calibri" pitchFamily="34" charset="-120"/>
              </a:rPr>
              <a:t>Reference paper (random split): </a:t>
            </a:r>
            <a:pPr indent="0" marL="0">
              <a:buNone/>
            </a:pPr>
            <a:r>
              <a:rPr lang="en-US" sz="1100" dirty="0">
                <a:solidFill>
                  <a:srgbClr val="334155"/>
                </a:solidFill>
                <a:latin typeface="Calibri" pitchFamily="34" charset="0"/>
                <a:ea typeface="Calibri" pitchFamily="34" charset="-122"/>
                <a:cs typeface="Calibri" pitchFamily="34" charset="-120"/>
              </a:rPr>
              <a:t>NN 92.2, softmax 82.3, SVM 71.4, tree 84.7, NB 55.0. Our SVM is far higher because we tuned lr/reg by grid search and fixed the initialisation (the paper found SVM init-sensitive).</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rgbClr val="111827"/>
                </a:solidFill>
                <a:latin typeface="Cambria" pitchFamily="34" charset="0"/>
                <a:ea typeface="Cambria" pitchFamily="34" charset="-122"/>
                <a:cs typeface="Cambria" pitchFamily="34" charset="-120"/>
              </a:rPr>
              <a:t>Why: models memorise drivers, not activities</a:t>
            </a:r>
            <a:endParaRPr lang="en-US" sz="2800" dirty="0"/>
          </a:p>
        </p:txBody>
      </p:sp>
      <p:graphicFrame>
        <p:nvGraphicFramePr>
          <p:cNvPr id="3" name="Chart 0" descr=""/>
          <p:cNvGraphicFramePr/>
          <p:nvPr/>
        </p:nvGraphicFramePr>
        <p:xfrm>
          <a:off x="365760" y="1005840"/>
          <a:ext cx="5120640" cy="3611880"/>
        </p:xfrm>
        <a:graphic xmlns:a="http://schemas.openxmlformats.org/drawingml/2006/main">
          <a:graphicData uri="http://schemas.openxmlformats.org/drawingml/2006/chart">
            <c:chart xmlns:c="http://schemas.openxmlformats.org/drawingml/2006/chart" r:id="rId1"/>
          </a:graphicData>
        </a:graphic>
      </p:graphicFrame>
      <p:sp>
        <p:nvSpPr>
          <p:cNvPr id="4" name="gap-0"/>
          <p:cNvSpPr/>
          <p:nvPr/>
        </p:nvSpPr>
        <p:spPr>
          <a:xfrm>
            <a:off x="5715000" y="1097280"/>
            <a:ext cx="2971800" cy="960120"/>
          </a:xfrm>
          <a:prstGeom prst="roundRect">
            <a:avLst>
              <a:gd name="adj" fmla="val 7619"/>
            </a:avLst>
          </a:prstGeom>
          <a:solidFill>
            <a:srgbClr val="F1F5F9"/>
          </a:solidFill>
          <a:ln w="12700">
            <a:solidFill>
              <a:srgbClr val="F1F5F9"/>
            </a:solidFill>
            <a:prstDash val="solid"/>
          </a:ln>
        </p:spPr>
      </p:sp>
      <p:sp>
        <p:nvSpPr>
          <p:cNvPr id="5" name="Text 2"/>
          <p:cNvSpPr txBox="1"/>
          <p:nvPr/>
        </p:nvSpPr>
        <p:spPr>
          <a:xfrm>
            <a:off x="5852160" y="1170432"/>
            <a:ext cx="2743200" cy="27432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Decision Tree</a:t>
            </a:r>
            <a:pPr indent="0" marL="0">
              <a:buNone/>
            </a:pPr>
            <a:r>
              <a:rPr lang="en-US" sz="1300" b="1" dirty="0">
                <a:solidFill>
                  <a:srgbClr val="DC2626"/>
                </a:solidFill>
                <a:latin typeface="Calibri" pitchFamily="34" charset="0"/>
                <a:ea typeface="Calibri" pitchFamily="34" charset="-122"/>
                <a:cs typeface="Calibri" pitchFamily="34" charset="-120"/>
              </a:rPr>
              <a:t>   70.3 pt gap</a:t>
            </a:r>
            <a:endParaRPr lang="en-US" sz="1300" dirty="0"/>
          </a:p>
        </p:txBody>
      </p:sp>
      <p:sp>
        <p:nvSpPr>
          <p:cNvPr id="6" name="Text 3"/>
          <p:cNvSpPr txBox="1"/>
          <p:nvPr/>
        </p:nvSpPr>
        <p:spPr>
          <a:xfrm>
            <a:off x="5852160" y="1463040"/>
            <a:ext cx="2743200" cy="54864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Fits training perfectly, so memorises driver-specific pixels</a:t>
            </a:r>
            <a:endParaRPr lang="en-US" sz="1100" dirty="0"/>
          </a:p>
        </p:txBody>
      </p:sp>
      <p:sp>
        <p:nvSpPr>
          <p:cNvPr id="7" name="gap-1"/>
          <p:cNvSpPr/>
          <p:nvPr/>
        </p:nvSpPr>
        <p:spPr>
          <a:xfrm>
            <a:off x="5715000" y="2176272"/>
            <a:ext cx="2971800" cy="960120"/>
          </a:xfrm>
          <a:prstGeom prst="roundRect">
            <a:avLst>
              <a:gd name="adj" fmla="val 7619"/>
            </a:avLst>
          </a:prstGeom>
          <a:solidFill>
            <a:srgbClr val="F1F5F9"/>
          </a:solidFill>
          <a:ln w="12700">
            <a:solidFill>
              <a:srgbClr val="F1F5F9"/>
            </a:solidFill>
            <a:prstDash val="solid"/>
          </a:ln>
        </p:spPr>
      </p:sp>
      <p:sp>
        <p:nvSpPr>
          <p:cNvPr id="8" name="Text 5"/>
          <p:cNvSpPr txBox="1"/>
          <p:nvPr/>
        </p:nvSpPr>
        <p:spPr>
          <a:xfrm>
            <a:off x="5852160" y="2249424"/>
            <a:ext cx="2743200" cy="27432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Two-layer NN</a:t>
            </a:r>
            <a:pPr indent="0" marL="0">
              <a:buNone/>
            </a:pPr>
            <a:r>
              <a:rPr lang="en-US" sz="1300" b="1" dirty="0">
                <a:solidFill>
                  <a:srgbClr val="DC2626"/>
                </a:solidFill>
                <a:latin typeface="Calibri" pitchFamily="34" charset="0"/>
                <a:ea typeface="Calibri" pitchFamily="34" charset="-122"/>
                <a:cs typeface="Calibri" pitchFamily="34" charset="-120"/>
              </a:rPr>
              <a:t>   47.6 pt gap</a:t>
            </a:r>
            <a:endParaRPr lang="en-US" sz="1300" dirty="0"/>
          </a:p>
        </p:txBody>
      </p:sp>
      <p:sp>
        <p:nvSpPr>
          <p:cNvPr id="9" name="Text 6"/>
          <p:cNvSpPr txBox="1"/>
          <p:nvPr/>
        </p:nvSpPr>
        <p:spPr>
          <a:xfrm>
            <a:off x="5852160" y="2542032"/>
            <a:ext cx="2743200" cy="54864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99.1% train vs 51.6% val: the flexible model overfits most visibly</a:t>
            </a:r>
            <a:endParaRPr lang="en-US" sz="1100" dirty="0"/>
          </a:p>
        </p:txBody>
      </p:sp>
      <p:sp>
        <p:nvSpPr>
          <p:cNvPr id="10" name="gap-2"/>
          <p:cNvSpPr/>
          <p:nvPr/>
        </p:nvSpPr>
        <p:spPr>
          <a:xfrm>
            <a:off x="5715000" y="3255264"/>
            <a:ext cx="2971800" cy="960120"/>
          </a:xfrm>
          <a:prstGeom prst="roundRect">
            <a:avLst>
              <a:gd name="adj" fmla="val 7619"/>
            </a:avLst>
          </a:prstGeom>
          <a:solidFill>
            <a:srgbClr val="F1F5F9"/>
          </a:solidFill>
          <a:ln w="12700">
            <a:solidFill>
              <a:srgbClr val="F1F5F9"/>
            </a:solidFill>
            <a:prstDash val="solid"/>
          </a:ln>
        </p:spPr>
      </p:sp>
      <p:sp>
        <p:nvSpPr>
          <p:cNvPr id="11" name="Text 8"/>
          <p:cNvSpPr txBox="1"/>
          <p:nvPr/>
        </p:nvSpPr>
        <p:spPr>
          <a:xfrm>
            <a:off x="5852160" y="3328416"/>
            <a:ext cx="2743200" cy="27432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Naive Bayes</a:t>
            </a:r>
            <a:pPr indent="0" marL="0">
              <a:buNone/>
            </a:pPr>
            <a:r>
              <a:rPr lang="en-US" sz="1300" b="1" dirty="0">
                <a:solidFill>
                  <a:srgbClr val="64748B"/>
                </a:solidFill>
                <a:latin typeface="Calibri" pitchFamily="34" charset="0"/>
                <a:ea typeface="Calibri" pitchFamily="34" charset="-122"/>
                <a:cs typeface="Calibri" pitchFamily="34" charset="-120"/>
              </a:rPr>
              <a:t>   underfits</a:t>
            </a:r>
            <a:endParaRPr lang="en-US" sz="1300" dirty="0"/>
          </a:p>
        </p:txBody>
      </p:sp>
      <p:sp>
        <p:nvSpPr>
          <p:cNvPr id="12" name="Text 9"/>
          <p:cNvSpPr txBox="1"/>
          <p:nvPr/>
        </p:nvSpPr>
        <p:spPr>
          <a:xfrm>
            <a:off x="5852160" y="3621024"/>
            <a:ext cx="2743200" cy="54864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Only 61% even on its own training data: too simple to capture the images</a:t>
            </a:r>
            <a:endParaRPr lang="en-US" sz="1100" dirty="0"/>
          </a:p>
        </p:txBody>
      </p:sp>
      <p:sp>
        <p:nvSpPr>
          <p:cNvPr id="13" name="Text 10"/>
          <p:cNvSpPr txBox="1"/>
          <p:nvPr/>
        </p:nvSpPr>
        <p:spPr>
          <a:xfrm>
            <a:off x="5715000" y="4352544"/>
            <a:ext cx="2971800" cy="365760"/>
          </a:xfrm>
          <a:prstGeom prst="rect">
            <a:avLst/>
          </a:prstGeom>
          <a:noFill/>
          <a:ln/>
        </p:spPr>
        <p:txBody>
          <a:bodyPr wrap="square" lIns="0" tIns="0" rIns="0" bIns="0" rtlCol="0" anchor="t"/>
          <a:lstStyle/>
          <a:p>
            <a:pPr indent="0" marL="0">
              <a:buNone/>
            </a:pPr>
            <a:r>
              <a:rPr lang="en-US" sz="1000" i="1" dirty="0">
                <a:solidFill>
                  <a:srgbClr val="64748B"/>
                </a:solidFill>
                <a:latin typeface="Calibri" pitchFamily="34" charset="0"/>
                <a:ea typeface="Calibri" pitchFamily="34" charset="-122"/>
                <a:cs typeface="Calibri" pitchFamily="34" charset="-120"/>
              </a:rPr>
              <a:t>Caveat: only 5 drivers in validation, one seed, so exact numbers are noisy.</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rgbClr val="111827"/>
                </a:solidFill>
                <a:latin typeface="Cambria" pitchFamily="34" charset="0"/>
                <a:ea typeface="Cambria" pitchFamily="34" charset="-122"/>
                <a:cs typeface="Cambria" pitchFamily="34" charset="-120"/>
              </a:rPr>
              <a:t>Best model: where the neural net fails</a:t>
            </a:r>
            <a:endParaRPr lang="en-US" sz="2800" dirty="0"/>
          </a:p>
        </p:txBody>
      </p:sp>
      <p:pic>
        <p:nvPicPr>
          <p:cNvPr id="3" name="confusion-matrix" descr="Confusion matrix of the two-layer net on the driver-wise validation split">    </p:cNvPr>
          <p:cNvPicPr>
            <a:picLocks noChangeAspect="1"/>
          </p:cNvPicPr>
          <p:nvPr/>
        </p:nvPicPr>
        <p:blipFill>
          <a:blip r:embed="rId1"/>
          <a:stretch>
            <a:fillRect/>
          </a:stretch>
        </p:blipFill>
        <p:spPr>
          <a:xfrm>
            <a:off x="457200" y="1051560"/>
            <a:ext cx="3977640" cy="3493008"/>
          </a:xfrm>
          <a:prstGeom prst="rect">
            <a:avLst/>
          </a:prstGeom>
        </p:spPr>
      </p:pic>
      <p:graphicFrame>
        <p:nvGraphicFramePr>
          <p:cNvPr id="4" name="Chart 0" descr=""/>
          <p:cNvGraphicFramePr/>
          <p:nvPr/>
        </p:nvGraphicFramePr>
        <p:xfrm>
          <a:off x="4572000" y="1005840"/>
          <a:ext cx="4206240" cy="2606040"/>
        </p:xfrm>
        <a:graphic xmlns:a="http://schemas.openxmlformats.org/drawingml/2006/main">
          <a:graphicData uri="http://schemas.openxmlformats.org/drawingml/2006/chart">
            <c:chart xmlns:c="http://schemas.openxmlformats.org/drawingml/2006/chart" r:id="rId2"/>
          </a:graphicData>
        </a:graphic>
      </p:graphicFrame>
      <p:sp>
        <p:nvSpPr>
          <p:cNvPr id="5" name="insight-card"/>
          <p:cNvSpPr/>
          <p:nvPr/>
        </p:nvSpPr>
        <p:spPr>
          <a:xfrm>
            <a:off x="4572000" y="3703320"/>
            <a:ext cx="4114800" cy="841248"/>
          </a:xfrm>
          <a:prstGeom prst="roundRect">
            <a:avLst>
              <a:gd name="adj" fmla="val 8696"/>
            </a:avLst>
          </a:prstGeom>
          <a:solidFill>
            <a:srgbClr val="111827"/>
          </a:solidFill>
          <a:ln w="12700">
            <a:solidFill>
              <a:srgbClr val="111827"/>
            </a:solidFill>
            <a:prstDash val="solid"/>
          </a:ln>
        </p:spPr>
      </p:sp>
      <p:sp>
        <p:nvSpPr>
          <p:cNvPr id="6" name="Text 2"/>
          <p:cNvSpPr txBox="1"/>
          <p:nvPr/>
        </p:nvSpPr>
        <p:spPr>
          <a:xfrm>
            <a:off x="4709160" y="3730752"/>
            <a:ext cx="3840480" cy="786384"/>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Hair and makeup is a catch-all: </a:t>
            </a:r>
            <a:pPr indent="0" marL="0">
              <a:buNone/>
            </a:pPr>
            <a:r>
              <a:rPr lang="en-US" sz="1100" dirty="0">
                <a:solidFill>
                  <a:srgbClr val="FFFFFF"/>
                </a:solidFill>
                <a:latin typeface="Calibri" pitchFamily="34" charset="0"/>
                <a:ea typeface="Calibri" pitchFamily="34" charset="-122"/>
                <a:cs typeface="Calibri" pitchFamily="34" charset="-120"/>
              </a:rPr>
              <a:t>25% of all predictions (1,175 of 4,677) land in c8, though it is only 7.7% of the data. Biggest error: phone-right predicted as c8 (173).</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Conclusions, limits and demo</a:t>
            </a:r>
            <a:endParaRPr lang="en-US" sz="2800" dirty="0"/>
          </a:p>
        </p:txBody>
      </p:sp>
      <p:sp>
        <p:nvSpPr>
          <p:cNvPr id="3" name="close-card-0"/>
          <p:cNvSpPr/>
          <p:nvPr/>
        </p:nvSpPr>
        <p:spPr>
          <a:xfrm>
            <a:off x="457200" y="1097280"/>
            <a:ext cx="4023360" cy="2377440"/>
          </a:xfrm>
          <a:prstGeom prst="roundRect">
            <a:avLst>
              <a:gd name="adj" fmla="val 3077"/>
            </a:avLst>
          </a:prstGeom>
          <a:solidFill>
            <a:srgbClr val="1F2937"/>
          </a:solidFill>
          <a:ln w="12700">
            <a:solidFill>
              <a:srgbClr val="1F2937"/>
            </a:solidFill>
            <a:prstDash val="solid"/>
          </a:ln>
        </p:spPr>
      </p:sp>
      <p:sp>
        <p:nvSpPr>
          <p:cNvPr id="4" name="Text 2"/>
          <p:cNvSpPr txBox="1"/>
          <p:nvPr/>
        </p:nvSpPr>
        <p:spPr>
          <a:xfrm>
            <a:off x="685800" y="1207008"/>
            <a:ext cx="3566160" cy="347472"/>
          </a:xfrm>
          <a:prstGeom prst="rect">
            <a:avLst/>
          </a:prstGeom>
          <a:noFill/>
          <a:ln/>
        </p:spPr>
        <p:txBody>
          <a:bodyPr wrap="square" lIns="0" tIns="0" rIns="0" bIns="0" rtlCol="0" anchor="t"/>
          <a:lstStyle/>
          <a:p>
            <a:pPr indent="0" marL="0">
              <a:buNone/>
            </a:pPr>
            <a:r>
              <a:rPr lang="en-US" sz="1800" b="1" dirty="0">
                <a:solidFill>
                  <a:srgbClr val="F59E0B"/>
                </a:solidFill>
                <a:latin typeface="Cambria" pitchFamily="34" charset="0"/>
                <a:ea typeface="Cambria" pitchFamily="34" charset="-122"/>
                <a:cs typeface="Cambria" pitchFamily="34" charset="-120"/>
              </a:rPr>
              <a:t>What we found</a:t>
            </a:r>
            <a:endParaRPr lang="en-US" sz="1800" dirty="0"/>
          </a:p>
        </p:txBody>
      </p:sp>
      <p:sp>
        <p:nvSpPr>
          <p:cNvPr id="5" name="Text 3"/>
          <p:cNvSpPr txBox="1"/>
          <p:nvPr/>
        </p:nvSpPr>
        <p:spPr>
          <a:xfrm>
            <a:off x="685800" y="1645920"/>
            <a:ext cx="3566160" cy="17373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Two-layer NN wins both protocols: 98.0% random, 51.6% driver-wise</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Random-split scores are optimistic: -41.6 points on unseen drivers</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Gradients verified (error ~1e-10); tuning never touches validation</a:t>
            </a:r>
            <a:endParaRPr lang="en-US" sz="1250" dirty="0"/>
          </a:p>
        </p:txBody>
      </p:sp>
      <p:sp>
        <p:nvSpPr>
          <p:cNvPr id="6" name="close-card-1"/>
          <p:cNvSpPr/>
          <p:nvPr/>
        </p:nvSpPr>
        <p:spPr>
          <a:xfrm>
            <a:off x="4663440" y="1097280"/>
            <a:ext cx="4023360" cy="2377440"/>
          </a:xfrm>
          <a:prstGeom prst="roundRect">
            <a:avLst>
              <a:gd name="adj" fmla="val 3077"/>
            </a:avLst>
          </a:prstGeom>
          <a:solidFill>
            <a:srgbClr val="1F2937"/>
          </a:solidFill>
          <a:ln w="12700">
            <a:solidFill>
              <a:srgbClr val="1F2937"/>
            </a:solidFill>
            <a:prstDash val="solid"/>
          </a:ln>
        </p:spPr>
      </p:sp>
      <p:sp>
        <p:nvSpPr>
          <p:cNvPr id="7" name="Text 5"/>
          <p:cNvSpPr txBox="1"/>
          <p:nvPr/>
        </p:nvSpPr>
        <p:spPr>
          <a:xfrm>
            <a:off x="4892040" y="1207008"/>
            <a:ext cx="3566160" cy="347472"/>
          </a:xfrm>
          <a:prstGeom prst="rect">
            <a:avLst/>
          </a:prstGeom>
          <a:noFill/>
          <a:ln/>
        </p:spPr>
        <p:txBody>
          <a:bodyPr wrap="square" lIns="0" tIns="0" rIns="0" bIns="0" rtlCol="0" anchor="t"/>
          <a:lstStyle/>
          <a:p>
            <a:pPr indent="0" marL="0">
              <a:buNone/>
            </a:pPr>
            <a:r>
              <a:rPr lang="en-US" sz="1800" b="1" dirty="0">
                <a:solidFill>
                  <a:srgbClr val="0D9488"/>
                </a:solidFill>
                <a:latin typeface="Cambria" pitchFamily="34" charset="0"/>
                <a:ea typeface="Cambria" pitchFamily="34" charset="-122"/>
                <a:cs typeface="Cambria" pitchFamily="34" charset="-120"/>
              </a:rPr>
              <a:t>Limitations, next steps</a:t>
            </a:r>
            <a:endParaRPr lang="en-US" sz="1800" dirty="0"/>
          </a:p>
        </p:txBody>
      </p:sp>
      <p:sp>
        <p:nvSpPr>
          <p:cNvPr id="8" name="Text 6"/>
          <p:cNvSpPr txBox="1"/>
          <p:nvPr/>
        </p:nvSpPr>
        <p:spPr>
          <a:xfrm>
            <a:off x="4892040" y="1645920"/>
            <a:ext cx="3566160" cy="17373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64x64 pixels lose detail; dense layers ignore spatial structure</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One seed, 5 validation drivers</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Next: CNN or transfer learning, augmentation, driver-grouped k-fold CV, use of unlabelled test images</a:t>
            </a:r>
            <a:endParaRPr lang="en-US" sz="1250" dirty="0"/>
          </a:p>
        </p:txBody>
      </p:sp>
      <p:sp>
        <p:nvSpPr>
          <p:cNvPr id="9" name="demo-strip"/>
          <p:cNvSpPr/>
          <p:nvPr/>
        </p:nvSpPr>
        <p:spPr>
          <a:xfrm>
            <a:off x="457200" y="3657600"/>
            <a:ext cx="8229600" cy="914400"/>
          </a:xfrm>
          <a:prstGeom prst="roundRect">
            <a:avLst>
              <a:gd name="adj" fmla="val 8000"/>
            </a:avLst>
          </a:prstGeom>
          <a:solidFill>
            <a:srgbClr val="F59E0B"/>
          </a:solidFill>
          <a:ln w="12700">
            <a:solidFill>
              <a:srgbClr val="F59E0B"/>
            </a:solidFill>
            <a:prstDash val="solid"/>
          </a:ln>
        </p:spPr>
      </p:sp>
      <p:sp>
        <p:nvSpPr>
          <p:cNvPr id="10" name="Text 8"/>
          <p:cNvSpPr txBox="1"/>
          <p:nvPr/>
        </p:nvSpPr>
        <p:spPr>
          <a:xfrm>
            <a:off x="685800" y="3703320"/>
            <a:ext cx="1463040" cy="822960"/>
          </a:xfrm>
          <a:prstGeom prst="rect">
            <a:avLst/>
          </a:prstGeom>
          <a:noFill/>
          <a:ln/>
        </p:spPr>
        <p:txBody>
          <a:bodyPr wrap="square" lIns="0" tIns="0" rIns="0" bIns="0" rtlCol="0" anchor="ctr"/>
          <a:lstStyle/>
          <a:p>
            <a:pPr indent="0" marL="0">
              <a:buNone/>
            </a:pPr>
            <a:r>
              <a:rPr lang="en-US" sz="1800" b="1" dirty="0">
                <a:solidFill>
                  <a:srgbClr val="111827"/>
                </a:solidFill>
                <a:latin typeface="Cambria" pitchFamily="34" charset="0"/>
                <a:ea typeface="Cambria" pitchFamily="34" charset="-122"/>
                <a:cs typeface="Cambria" pitchFamily="34" charset="-120"/>
              </a:rPr>
              <a:t>Live demo</a:t>
            </a:r>
            <a:endParaRPr lang="en-US" sz="1800" dirty="0"/>
          </a:p>
        </p:txBody>
      </p:sp>
      <p:sp>
        <p:nvSpPr>
          <p:cNvPr id="11" name="Text 9"/>
          <p:cNvSpPr txBox="1"/>
          <p:nvPr/>
        </p:nvSpPr>
        <p:spPr>
          <a:xfrm>
            <a:off x="2194560" y="3721608"/>
            <a:ext cx="6309360" cy="786384"/>
          </a:xfrm>
          <a:prstGeom prst="rect">
            <a:avLst/>
          </a:prstGeom>
          <a:noFill/>
          <a:ln/>
        </p:spPr>
        <p:txBody>
          <a:bodyPr wrap="square" lIns="0" tIns="0" rIns="0" bIns="0" rtlCol="0" anchor="ctr"/>
          <a:lstStyle/>
          <a:p>
            <a:pPr indent="0" marL="0">
              <a:buNone/>
            </a:pPr>
            <a:r>
              <a:rPr lang="en-US" sz="1250" b="1" dirty="0">
                <a:solidFill>
                  <a:srgbClr val="111827"/>
                </a:solidFill>
                <a:latin typeface="Calibri" pitchFamily="34" charset="0"/>
                <a:ea typeface="Calibri" pitchFamily="34" charset="-122"/>
                <a:cs typeface="Calibri" pitchFamily="34" charset="-120"/>
              </a:rPr>
              <a:t>1  Open the notebook, last section</a:t>
            </a:r>
            <a:endParaRPr lang="en-US" sz="1250" dirty="0"/>
          </a:p>
          <a:p>
            <a:pPr indent="0" marL="0">
              <a:buNone/>
            </a:pPr>
            <a:r>
              <a:rPr lang="en-US" sz="1250" b="1" dirty="0">
                <a:solidFill>
                  <a:srgbClr val="111827"/>
                </a:solidFill>
                <a:latin typeface="Calibri" pitchFamily="34" charset="0"/>
                <a:ea typeface="Calibri" pitchFamily="34" charset="-122"/>
                <a:cs typeface="Calibri" pitchFamily="34" charset="-120"/>
              </a:rPr>
              <a:t>2  Set IMAGE_PATH (or leave None for a random image)</a:t>
            </a:r>
            <a:endParaRPr lang="en-US" sz="1250" dirty="0"/>
          </a:p>
          <a:p>
            <a:pPr indent="0" marL="0">
              <a:buNone/>
            </a:pPr>
            <a:r>
              <a:rPr lang="en-US" sz="1250" b="1" dirty="0">
                <a:solidFill>
                  <a:srgbClr val="111827"/>
                </a:solidFill>
                <a:latin typeface="Calibri" pitchFamily="34" charset="0"/>
                <a:ea typeface="Calibri" pitchFamily="34" charset="-122"/>
                <a:cs typeface="Calibri" pitchFamily="34" charset="-120"/>
              </a:rPr>
              <a:t>3  Run: image, predicted activity and top-3 probabilities</a:t>
            </a:r>
            <a:endParaRPr lang="en-US" sz="1250" dirty="0"/>
          </a:p>
        </p:txBody>
      </p:sp>
    </p:spTree>
  </p:cSld>
  <p:clrMapOvr>
    <a:masterClrMapping/>
  </p:clrMapOvr>
</p:sld>
</file>

<file path=ppt/theme/theme1.xml><?xml version="1.0" encoding="utf-8"?>
<a:theme xmlns:a="http://schemas.openxmlformats.org/drawingml/2006/main" name="Dashboard Night">
  <a:themeElements>
    <a:clrScheme name="Dashboard Night">
      <a:dk1>
        <a:srgbClr val="111827"/>
      </a:dk1>
      <a:lt1>
        <a:srgbClr val="FFFFFF"/>
      </a:lt1>
      <a:dk2>
        <a:srgbClr val="1F2937"/>
      </a:dk2>
      <a:lt2>
        <a:srgbClr val="F1F5F9"/>
      </a:lt2>
      <a:accent1>
        <a:srgbClr val="F59E0B"/>
      </a:accent1>
      <a:accent2>
        <a:srgbClr val="0D9488"/>
      </a:accent2>
      <a:accent3>
        <a:srgbClr val="EF4444"/>
      </a:accent3>
      <a:accent4>
        <a:srgbClr val="6366F1"/>
      </a:accent4>
      <a:accent5>
        <a:srgbClr val="64748B"/>
      </a:accent5>
      <a:accent6>
        <a:srgbClr val="94A3B8"/>
      </a:accent6>
      <a:hlink>
        <a:srgbClr val="0D9488"/>
      </a:hlink>
      <a:folHlink>
        <a:srgbClr val="64748B"/>
      </a:folHlink>
    </a:clrScheme>
    <a:fontScheme name="Dashboard 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Distracted Driver Detection</dc:title>
  <dc:subject>PptxGenJS Presentation</dc:subject>
  <dc:creator>Arya Devang, Ananthakrishna</dc:creator>
  <cp:lastModifiedBy>Arya Devang, Ananthakrishna</cp:lastModifiedBy>
  <cp:revision>1</cp:revision>
  <dcterms:created xsi:type="dcterms:W3CDTF">2026-10-16T04:07:42Z</dcterms:created>
  <dcterms:modified xsi:type="dcterms:W3CDTF">2026-10-16T04:07:42Z</dcterms:modified>
</cp:coreProperties>
</file>